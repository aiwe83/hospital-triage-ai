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309360"/>
            <a:ext cx="11109960" cy="0"/>
          </a:xfrm>
          <a:prstGeom prst="line">
            <a:avLst/>
          </a:prstGeom>
          <a:noFill/>
          <a:ln w="12700">
            <a:solidFill>
              <a:srgbClr val="1BA6C9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1908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B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Triage AI Multiagente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589520" y="641908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B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funcional · IA multiagente · RAG · MCP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DB7C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DB7C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400" b="1" dirty="0">
                <a:solidFill>
                  <a:srgbClr val="F5F9FF"/>
                </a:solidFill>
              </a:rPr>
              <a:t>Propuesta técnica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44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Hospital Triage AI</a:t>
            </a:r>
            <a:endParaRPr lang="en-US" sz="4400" dirty="0"/>
          </a:p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44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Multiagente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94360" y="2606040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600" dirty="0">
                <a:solidFill>
                  <a:srgbClr val="CFDDE8"/>
                </a:solidFill>
              </a:rPr>
              <a:t>Programa web funcional de triage inteligente con agentes visuales, orquestación multiagente, RAG y MCP local.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3520440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0"/>
            </a:srgbClr>
          </a:solidFill>
          <a:ln w="12700">
            <a:solidFill>
              <a:srgbClr val="1BA6C9">
                <a:alpha val="7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6" name="Text 4"/>
          <p:cNvSpPr/>
          <p:nvPr/>
        </p:nvSpPr>
        <p:spPr>
          <a:xfrm>
            <a:off x="667512" y="3589020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50" b="1" dirty="0">
                <a:solidFill>
                  <a:srgbClr val="CFDDE8"/>
                </a:solidFill>
              </a:rPr>
              <a:t>Next.js · React · TypeScript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926080" y="352044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0"/>
            </a:srgbClr>
          </a:solidFill>
          <a:ln w="12700">
            <a:solidFill>
              <a:srgbClr val="7A7DFF">
                <a:alpha val="7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8" name="Text 6"/>
          <p:cNvSpPr/>
          <p:nvPr/>
        </p:nvSpPr>
        <p:spPr>
          <a:xfrm>
            <a:off x="2999232" y="3589020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50" b="1" dirty="0">
                <a:solidFill>
                  <a:srgbClr val="CFDDE8"/>
                </a:solidFill>
              </a:rPr>
              <a:t>FastAPI · LangGraph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00600" y="3520440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0"/>
            </a:srgbClr>
          </a:solidFill>
          <a:ln w="12700">
            <a:solidFill>
              <a:srgbClr val="67E8B9">
                <a:alpha val="7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0" name="Text 8"/>
          <p:cNvSpPr/>
          <p:nvPr/>
        </p:nvSpPr>
        <p:spPr>
          <a:xfrm>
            <a:off x="4873752" y="358902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50" b="1" dirty="0">
                <a:solidFill>
                  <a:srgbClr val="CFDDE8"/>
                </a:solidFill>
              </a:rPr>
              <a:t>MongoDB · Elasticsearch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949440" y="3520440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0"/>
            </a:srgbClr>
          </a:solidFill>
          <a:ln w="12700">
            <a:solidFill>
              <a:srgbClr val="F6C85F">
                <a:alpha val="7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2" name="Text 10"/>
          <p:cNvSpPr/>
          <p:nvPr/>
        </p:nvSpPr>
        <p:spPr>
          <a:xfrm>
            <a:off x="7022592" y="35890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50" b="1" dirty="0">
                <a:solidFill>
                  <a:srgbClr val="CFDDE8"/>
                </a:solidFill>
              </a:rPr>
              <a:t>MCP local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498080" y="914400"/>
            <a:ext cx="3886200" cy="4526280"/>
          </a:xfrm>
          <a:prstGeom prst="roundRect">
            <a:avLst>
              <a:gd name="adj" fmla="val 2824"/>
            </a:avLst>
          </a:prstGeom>
          <a:solidFill>
            <a:srgbClr val="FFFFFF">
              <a:alpha val="0"/>
            </a:srgbClr>
          </a:solidFill>
          <a:ln w="17780">
            <a:solidFill>
              <a:srgbClr val="1BA6C9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4" name="Text 12"/>
          <p:cNvSpPr/>
          <p:nvPr/>
        </p:nvSpPr>
        <p:spPr>
          <a:xfrm>
            <a:off x="7772400" y="1115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400" b="1" dirty="0">
                <a:solidFill>
                  <a:srgbClr val="CFDDE8"/>
                </a:solidFill>
              </a:rPr>
              <a:t>Hospital AI Ops Center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23960" y="1828800"/>
            <a:ext cx="438912" cy="438912"/>
          </a:xfrm>
          <a:prstGeom prst="ellipse">
            <a:avLst/>
          </a:prstGeom>
          <a:solidFill>
            <a:srgbClr val="3CE3FF"/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6" name="Shape 14"/>
          <p:cNvSpPr/>
          <p:nvPr/>
        </p:nvSpPr>
        <p:spPr>
          <a:xfrm>
            <a:off x="8046720" y="2743200"/>
            <a:ext cx="438912" cy="438912"/>
          </a:xfrm>
          <a:prstGeom prst="ellipse">
            <a:avLst/>
          </a:prstGeom>
          <a:solidFill>
            <a:srgbClr val="67E8B9"/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7" name="Shape 15"/>
          <p:cNvSpPr/>
          <p:nvPr/>
        </p:nvSpPr>
        <p:spPr>
          <a:xfrm>
            <a:off x="9601200" y="2743200"/>
            <a:ext cx="438912" cy="438912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8" name="Shape 16"/>
          <p:cNvSpPr/>
          <p:nvPr/>
        </p:nvSpPr>
        <p:spPr>
          <a:xfrm>
            <a:off x="8046720" y="3749040"/>
            <a:ext cx="438912" cy="438912"/>
          </a:xfrm>
          <a:prstGeom prst="ellipse">
            <a:avLst/>
          </a:prstGeom>
          <a:solidFill>
            <a:srgbClr val="7A7DFF"/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9" name="Shape 17"/>
          <p:cNvSpPr/>
          <p:nvPr/>
        </p:nvSpPr>
        <p:spPr>
          <a:xfrm>
            <a:off x="9601200" y="3749040"/>
            <a:ext cx="438912" cy="43891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0" name="Shape 18"/>
          <p:cNvSpPr/>
          <p:nvPr/>
        </p:nvSpPr>
        <p:spPr>
          <a:xfrm>
            <a:off x="8823960" y="4572000"/>
            <a:ext cx="438912" cy="438912"/>
          </a:xfrm>
          <a:prstGeom prst="ellipse">
            <a:avLst/>
          </a:prstGeom>
          <a:solidFill>
            <a:srgbClr val="1BA6C9"/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1" name="Text 19"/>
          <p:cNvSpPr/>
          <p:nvPr/>
        </p:nvSpPr>
        <p:spPr>
          <a:xfrm>
            <a:off x="594360" y="512064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300" b="1" dirty="0">
                <a:solidFill>
                  <a:srgbClr val="CFDDE8"/>
                </a:solidFill>
              </a:rPr>
              <a:t>Objetivo: construir una aplicación ejecutable, no una maqueta estática.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DB7C9"/>
                </a:solidFill>
              </a:defRPr>
            </a:lvl1pPr>
          </a:lstStyle>
          <a:p>
            <a:pPr algn="l">
              <a:defRPr>
                <a:solidFill>
                  <a:srgbClr val="CFDDE8"/>
                </a:solidFill>
              </a:defRPr>
            </a:pPr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30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 ejecutivo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dirty="0">
                <a:solidFill>
                  <a:srgbClr val="CFDDE8"/>
                </a:solidFill>
              </a:rPr>
              <a:t>Qué se quiere construir y por qué tiene valor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>
              <a:alpha val="0"/>
            </a:srgbClr>
          </a:solidFill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45720" cy="1920240"/>
          </a:xfrm>
          <a:prstGeom prst="rect">
            <a:avLst/>
          </a:prstGeom>
          <a:solidFill>
            <a:srgbClr val="3CE3FF"/>
          </a:solidFill>
          <a:ln w="12700">
            <a:solidFill>
              <a:srgbClr val="3CE3FF">
                <a:alpha val="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6" name="Text 4"/>
          <p:cNvSpPr/>
          <p:nvPr/>
        </p:nvSpPr>
        <p:spPr>
          <a:xfrm>
            <a:off x="804672" y="1399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500" b="1" dirty="0">
                <a:solidFill>
                  <a:srgbClr val="CFDDE8"/>
                </a:solidFill>
              </a:rPr>
              <a:t>Producto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764792"/>
            <a:ext cx="3154680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dirty="0">
                <a:solidFill>
                  <a:srgbClr val="CFDDE8"/>
                </a:solidFill>
              </a:rPr>
              <a:t>Aplicación web funcional para apoyar triage en urgencias: entrada de paciente, agentes visuales, trazabilidad y resultado final.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2344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>
              <a:alpha val="0"/>
            </a:srgbClr>
          </a:solidFill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9" name="Shape 7"/>
          <p:cNvSpPr/>
          <p:nvPr/>
        </p:nvSpPr>
        <p:spPr>
          <a:xfrm>
            <a:off x="4389120" y="1234440"/>
            <a:ext cx="45720" cy="1920240"/>
          </a:xfrm>
          <a:prstGeom prst="rect">
            <a:avLst/>
          </a:prstGeom>
          <a:solidFill>
            <a:srgbClr val="67E8B9"/>
          </a:solidFill>
          <a:ln w="12700">
            <a:solidFill>
              <a:srgbClr val="67E8B9">
                <a:alpha val="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0" name="Text 8"/>
          <p:cNvSpPr/>
          <p:nvPr/>
        </p:nvSpPr>
        <p:spPr>
          <a:xfrm>
            <a:off x="4553712" y="1399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500" b="1" dirty="0">
                <a:solidFill>
                  <a:srgbClr val="CFDDE8"/>
                </a:solidFill>
              </a:rPr>
              <a:t>Diferencial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53712" y="1764792"/>
            <a:ext cx="3154680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dirty="0">
                <a:solidFill>
                  <a:srgbClr val="CFDDE8"/>
                </a:solidFill>
              </a:rPr>
              <a:t>No solo responde un modelo: se ve cómo un orquestador coordina subagentes especializados en tiempo real.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2344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>
              <a:alpha val="0"/>
            </a:srgbClr>
          </a:solidFill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3" name="Shape 11"/>
          <p:cNvSpPr/>
          <p:nvPr/>
        </p:nvSpPr>
        <p:spPr>
          <a:xfrm>
            <a:off x="8138160" y="1234440"/>
            <a:ext cx="45720" cy="1920240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4" name="Text 12"/>
          <p:cNvSpPr/>
          <p:nvPr/>
        </p:nvSpPr>
        <p:spPr>
          <a:xfrm>
            <a:off x="8302752" y="1399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500" b="1" dirty="0">
                <a:solidFill>
                  <a:srgbClr val="CFDDE8"/>
                </a:solidFill>
              </a:rPr>
              <a:t>Límite clínico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2752" y="1764792"/>
            <a:ext cx="3154680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dirty="0">
                <a:solidFill>
                  <a:srgbClr val="CFDDE8"/>
                </a:solidFill>
              </a:rPr>
              <a:t>No diagnostica. Entrega prioridad sugerida, factores de riesgo y próximos pasos para revisión humana.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3749040"/>
            <a:ext cx="104241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0"/>
            </a:srgbClr>
          </a:solidFill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7" name="Text 15"/>
          <p:cNvSpPr/>
          <p:nvPr/>
        </p:nvSpPr>
        <p:spPr>
          <a:xfrm>
            <a:off x="1143000" y="3977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300" b="1" dirty="0">
                <a:solidFill>
                  <a:srgbClr val="CFDDE8"/>
                </a:solidFill>
              </a:rPr>
              <a:t>Idea fuerza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37083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700" b="1" dirty="0">
                <a:solidFill>
                  <a:srgbClr val="CFDDE8"/>
                </a:solidFill>
              </a:rPr>
              <a:t>La inteligencia del sistema no está solo en el modelo, sino en cómo se organiza el trabajo: orquestación, especialización, trazabilidad y validación humana.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DB7C9"/>
                </a:solidFill>
              </a:defRPr>
            </a:lvl1pPr>
          </a:lstStyle>
          <a:p>
            <a:pPr algn="l">
              <a:defRPr>
                <a:solidFill>
                  <a:srgbClr val="CFDDE8"/>
                </a:solidFill>
              </a:defRPr>
            </a:pPr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30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 del MVP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dirty="0">
                <a:solidFill>
                  <a:srgbClr val="CFDDE8"/>
                </a:solidFill>
              </a:rPr>
              <a:t>Lo que entra, lo que queda fuera y por qué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800" b="1" dirty="0">
                <a:solidFill>
                  <a:srgbClr val="F5F9FF"/>
                </a:solidFill>
              </a:rPr>
              <a:t>Incluido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50292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>
              <a:defRPr>
                <a:solidFill>
                  <a:srgbClr val="CFDDE8"/>
                </a:solidFill>
              </a:defRPr>
            </a:pPr>
            <a:r>
              <a:rPr>
                <a:solidFill>
                  <a:srgbClr val="CFDDE8"/>
                </a:solidFill>
              </a:rPr>
              <a:t>• Frontend Next.js + React + TypeScript</a:t>
            </a:r>
          </a:p>
          <a:p>
            <a:pPr>
              <a:defRPr>
                <a:solidFill>
                  <a:srgbClr val="CFDDE8"/>
                </a:solidFill>
              </a:defRPr>
            </a:pPr>
            <a:r>
              <a:rPr>
                <a:solidFill>
                  <a:srgbClr val="CFDDE8"/>
                </a:solidFill>
              </a:rPr>
              <a:t>• Escenario hospitalario pixelado con agentes visibles</a:t>
            </a:r>
          </a:p>
          <a:p>
            <a:pPr>
              <a:defRPr>
                <a:solidFill>
                  <a:srgbClr val="CFDDE8"/>
                </a:solidFill>
              </a:defRPr>
            </a:pPr>
            <a:r>
              <a:rPr>
                <a:solidFill>
                  <a:srgbClr val="CFDDE8"/>
                </a:solidFill>
              </a:rPr>
              <a:t>• Backend FastAPI + LangGraph + LangChain</a:t>
            </a:r>
          </a:p>
          <a:p>
            <a:pPr>
              <a:defRPr>
                <a:solidFill>
                  <a:srgbClr val="CFDDE8"/>
                </a:solidFill>
              </a:defRPr>
            </a:pPr>
            <a:r>
              <a:rPr>
                <a:solidFill>
                  <a:srgbClr val="CFDDE8"/>
                </a:solidFill>
              </a:rPr>
              <a:t>• MongoDB para casos, trazas, estados e informes</a:t>
            </a:r>
          </a:p>
          <a:p>
            <a:pPr>
              <a:defRPr>
                <a:solidFill>
                  <a:srgbClr val="CFDDE8"/>
                </a:solidFill>
              </a:defRPr>
            </a:pPr>
            <a:r>
              <a:rPr>
                <a:solidFill>
                  <a:srgbClr val="CFDDE8"/>
                </a:solidFill>
              </a:rPr>
              <a:t>• Elasticsearch para protocolos y RAG</a:t>
            </a:r>
          </a:p>
          <a:p>
            <a:pPr>
              <a:defRPr>
                <a:solidFill>
                  <a:srgbClr val="CFDDE8"/>
                </a:solidFill>
              </a:defRPr>
            </a:pPr>
            <a:r>
              <a:rPr>
                <a:solidFill>
                  <a:srgbClr val="CFDDE8"/>
                </a:solidFill>
              </a:rPr>
              <a:t>• MCP local de alcance controlado</a:t>
            </a:r>
          </a:p>
          <a:p>
            <a:pPr>
              <a:defRPr>
                <a:solidFill>
                  <a:srgbClr val="CFDDE8"/>
                </a:solidFill>
              </a:defRPr>
            </a:pPr>
            <a:r>
              <a:rPr>
                <a:solidFill>
                  <a:srgbClr val="CFDDE8"/>
                </a:solidFill>
              </a:rPr>
              <a:t>• Salida de informe con Google Drive/Gmail para herramientas hospitalarias simuladas</a:t>
            </a:r>
          </a:p>
          <a:p>
            <a:pPr>
              <a:defRPr>
                <a:solidFill>
                  <a:srgbClr val="CFDDE8"/>
                </a:solidFill>
              </a:defRPr>
            </a:pPr>
            <a:r>
              <a:rPr>
                <a:solidFill>
                  <a:srgbClr val="CFDDE8"/>
                </a:solidFill>
              </a:rPr>
              <a:t>• Docker Compose para ejecución local</a:t>
            </a:r>
          </a:p>
        </p:txBody>
      </p:sp>
      <p:sp>
        <p:nvSpPr>
          <p:cNvPr id="6" name="Text 4"/>
          <p:cNvSpPr/>
          <p:nvPr/>
        </p:nvSpPr>
        <p:spPr>
          <a:xfrm>
            <a:off x="640080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800" b="1" dirty="0">
                <a:solidFill>
                  <a:srgbClr val="F5F9FF"/>
                </a:solidFill>
              </a:rPr>
              <a:t>Fuera o limitado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46520" y="1691640"/>
            <a:ext cx="493776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300" b="1" dirty="0">
                <a:solidFill>
                  <a:srgbClr val="CFDDE8"/>
                </a:solidFill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CFDDE8"/>
                </a:solidFill>
              </a:rPr>
              <a:t>No diagnóstico automático
</a:t>
            </a:r>
            <a:pPr indent="0" marL="0">
              <a:buNone/>
            </a:pPr>
            <a:r>
              <a:rPr lang="en-US" sz="1300" b="1" dirty="0">
                <a:solidFill>
                  <a:srgbClr val="CFDDE8"/>
                </a:solidFill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CFDDE8"/>
                </a:solidFill>
              </a:rPr>
              <a:t>No Streamlit como frontend principal
</a:t>
            </a:r>
            <a:pPr indent="0" marL="0">
              <a:buNone/>
            </a:pPr>
            <a:r>
              <a:rPr lang="en-US" sz="1300" b="1" dirty="0">
                <a:solidFill>
                  <a:srgbClr val="CFDDE8"/>
                </a:solidFill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CFDDE8"/>
                </a:solidFill>
              </a:rPr>
              <a:t>No SQL/PostgreSQL salvo petición posterior
</a:t>
            </a:r>
            <a:pPr indent="0" marL="0">
              <a:buNone/>
            </a:pPr>
            <a:r>
              <a:rPr lang="en-US" sz="1300" b="1" dirty="0">
                <a:solidFill>
                  <a:srgbClr val="CFDDE8"/>
                </a:solidFill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CFDDE8"/>
                </a:solidFill>
              </a:rPr>
              <a:t>No Qdrant, Chroma, Supabase ni cloud no solicitado
</a:t>
            </a:r>
            <a:pPr indent="0" marL="0">
              <a:buNone/>
            </a:pPr>
            <a:r>
              <a:rPr lang="en-US" sz="1300" b="1" dirty="0">
                <a:solidFill>
                  <a:srgbClr val="CFDDE8"/>
                </a:solidFill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CFDDE8"/>
                </a:solidFill>
              </a:rPr>
              <a:t>No convertirlo en proyecto OpenClaw
</a:t>
            </a:r>
            <a:pPr indent="0" marL="0">
              <a:buNone/>
            </a:pPr>
            <a:r>
              <a:rPr lang="en-US" sz="1300" b="1" dirty="0">
                <a:solidFill>
                  <a:srgbClr val="CFDDE8"/>
                </a:solidFill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CFDDE8"/>
                </a:solidFill>
              </a:rPr>
              <a:t>No arquitectura sobredimensionada antes de validar el flujo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5486400"/>
            <a:ext cx="1033272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0"/>
            </a:srgbClr>
          </a:solidFill>
          <a:ln w="12700">
            <a:solidFill>
              <a:srgbClr val="1BA6C9">
                <a:alpha val="7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9" name="Text 7"/>
          <p:cNvSpPr/>
          <p:nvPr/>
        </p:nvSpPr>
        <p:spPr>
          <a:xfrm>
            <a:off x="1097280" y="5641848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150" b="1" dirty="0">
                <a:solidFill>
                  <a:srgbClr val="CFDDE8"/>
                </a:solidFill>
              </a:rPr>
              <a:t>OpenClaw Studio se usa solo como referencia visual/cantera de pixel_agent. El proyecto final es standalone: hospital-triage-ai.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DB7C9"/>
                </a:solidFill>
              </a:defRPr>
            </a:lvl1pPr>
          </a:lstStyle>
          <a:p>
            <a:pPr algn="l">
              <a:defRPr>
                <a:solidFill>
                  <a:srgbClr val="CFDDE8"/>
                </a:solidFill>
              </a:defRPr>
            </a:pPr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30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funcional y técnica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dirty="0">
                <a:solidFill>
                  <a:srgbClr val="CFDDE8"/>
                </a:solidFill>
              </a:rPr>
              <a:t>Separación clara entre UI, API, agentes, datos y herramientas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0"/>
            </a:srgbClr>
          </a:solidFill>
          <a:ln w="16510">
            <a:solidFill>
              <a:srgbClr val="3CE3FF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5" name="Text 3"/>
          <p:cNvSpPr/>
          <p:nvPr/>
        </p:nvSpPr>
        <p:spPr>
          <a:xfrm>
            <a:off x="804672" y="2670048"/>
            <a:ext cx="18653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100" b="1" dirty="0">
                <a:solidFill>
                  <a:srgbClr val="CFDDE8"/>
                </a:solidFill>
              </a:rPr>
              <a:t>Frontend</a:t>
            </a:r>
            <a:endParaRPr lang="en-US" sz="1100" dirty="0"/>
          </a:p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100" b="1" dirty="0">
                <a:solidFill>
                  <a:srgbClr val="CFDDE8"/>
                </a:solidFill>
              </a:rPr>
              <a:t>Next.js / React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256032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0"/>
            </a:srgbClr>
          </a:solidFill>
          <a:ln w="16510">
            <a:solidFill>
              <a:srgbClr val="1BA6C9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7" name="Text 5"/>
          <p:cNvSpPr/>
          <p:nvPr/>
        </p:nvSpPr>
        <p:spPr>
          <a:xfrm>
            <a:off x="3273552" y="2670048"/>
            <a:ext cx="149961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100" b="1" dirty="0">
                <a:solidFill>
                  <a:srgbClr val="CFDDE8"/>
                </a:solidFill>
              </a:rPr>
              <a:t>API</a:t>
            </a:r>
            <a:endParaRPr lang="en-US" sz="1100" dirty="0"/>
          </a:p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100" b="1" dirty="0">
                <a:solidFill>
                  <a:srgbClr val="CFDDE8"/>
                </a:solidFill>
              </a:rPr>
              <a:t>FastAPI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49240" y="2148840"/>
            <a:ext cx="1920240" cy="1481328"/>
          </a:xfrm>
          <a:prstGeom prst="roundRect">
            <a:avLst>
              <a:gd name="adj" fmla="val 4938"/>
            </a:avLst>
          </a:prstGeom>
          <a:solidFill>
            <a:srgbClr val="FFFFFF">
              <a:alpha val="0"/>
            </a:srgbClr>
          </a:solidFill>
          <a:ln w="16510">
            <a:solidFill>
              <a:srgbClr val="7A7DFF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9" name="Text 7"/>
          <p:cNvSpPr/>
          <p:nvPr/>
        </p:nvSpPr>
        <p:spPr>
          <a:xfrm>
            <a:off x="5422392" y="2258568"/>
            <a:ext cx="17739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100" b="1" dirty="0">
                <a:solidFill>
                  <a:srgbClr val="CFDDE8"/>
                </a:solidFill>
              </a:rPr>
              <a:t>LangGraph</a:t>
            </a:r>
            <a:endParaRPr lang="en-US" sz="1100" dirty="0"/>
          </a:p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100" b="1" dirty="0">
                <a:solidFill>
                  <a:srgbClr val="CFDDE8"/>
                </a:solidFill>
              </a:rPr>
              <a:t>Orquestador +</a:t>
            </a:r>
            <a:endParaRPr lang="en-US" sz="1100" dirty="0"/>
          </a:p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100" b="1" dirty="0">
                <a:solidFill>
                  <a:srgbClr val="CFDDE8"/>
                </a:solidFill>
              </a:rPr>
              <a:t>subagentes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18120" y="109728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0"/>
            </a:srgbClr>
          </a:solidFill>
          <a:ln w="16510">
            <a:solidFill>
              <a:srgbClr val="67E8B9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1" name="Text 9"/>
          <p:cNvSpPr/>
          <p:nvPr/>
        </p:nvSpPr>
        <p:spPr>
          <a:xfrm>
            <a:off x="7891272" y="1207008"/>
            <a:ext cx="154533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00" b="1" dirty="0">
                <a:solidFill>
                  <a:srgbClr val="CFDDE8"/>
                </a:solidFill>
              </a:rPr>
              <a:t>MongoDB</a:t>
            </a:r>
            <a:endParaRPr lang="en-US" sz="1000" dirty="0"/>
          </a:p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00" b="1" dirty="0">
                <a:solidFill>
                  <a:srgbClr val="CFDDE8"/>
                </a:solidFill>
              </a:rPr>
              <a:t>trazas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18120" y="274320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0"/>
            </a:srgbClr>
          </a:solidFill>
          <a:ln w="16510">
            <a:solidFill>
              <a:srgbClr val="F6C85F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3" name="Text 11"/>
          <p:cNvSpPr/>
          <p:nvPr/>
        </p:nvSpPr>
        <p:spPr>
          <a:xfrm>
            <a:off x="7891272" y="2852928"/>
            <a:ext cx="154533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00" b="1" dirty="0">
                <a:solidFill>
                  <a:srgbClr val="CFDDE8"/>
                </a:solidFill>
              </a:rPr>
              <a:t>Elasticsearch</a:t>
            </a:r>
            <a:endParaRPr lang="en-US" sz="1000" dirty="0"/>
          </a:p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00" b="1" dirty="0">
                <a:solidFill>
                  <a:srgbClr val="CFDDE8"/>
                </a:solidFill>
              </a:rPr>
              <a:t>protocolos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18120" y="438912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0"/>
            </a:srgbClr>
          </a:solidFill>
          <a:ln w="16510">
            <a:solidFill>
              <a:srgbClr val="FF6B6B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5" name="Text 13"/>
          <p:cNvSpPr/>
          <p:nvPr/>
        </p:nvSpPr>
        <p:spPr>
          <a:xfrm>
            <a:off x="7891272" y="4498848"/>
            <a:ext cx="154533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00" b="1" dirty="0">
                <a:solidFill>
                  <a:srgbClr val="CFDDE8"/>
                </a:solidFill>
              </a:rPr>
              <a:t>MCP local</a:t>
            </a:r>
            <a:endParaRPr lang="en-US" sz="1000" dirty="0"/>
          </a:p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00" b="1" dirty="0">
                <a:solidFill>
                  <a:srgbClr val="CFDDE8"/>
                </a:solidFill>
              </a:rPr>
              <a:t>tools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0" y="256032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0"/>
            </a:srgbClr>
          </a:solidFill>
          <a:ln w="16510">
            <a:solidFill>
              <a:srgbClr val="3CE3FF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7" name="Text 15"/>
          <p:cNvSpPr/>
          <p:nvPr/>
        </p:nvSpPr>
        <p:spPr>
          <a:xfrm>
            <a:off x="10131552" y="2670048"/>
            <a:ext cx="145389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100" b="1" dirty="0">
                <a:solidFill>
                  <a:srgbClr val="CFDDE8"/>
                </a:solidFill>
              </a:rPr>
              <a:t>Informe</a:t>
            </a:r>
            <a:endParaRPr lang="en-US" sz="1100" dirty="0"/>
          </a:p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100" b="1" dirty="0">
                <a:solidFill>
                  <a:srgbClr val="CFDDE8"/>
                </a:solidFill>
              </a:rPr>
              <a:t>triage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88920" y="2880360"/>
            <a:ext cx="411480" cy="0"/>
          </a:xfrm>
          <a:prstGeom prst="line">
            <a:avLst/>
          </a:prstGeom>
          <a:noFill/>
          <a:ln w="19050">
            <a:solidFill>
              <a:srgbClr val="3CE3FF"/>
            </a:solidFill>
            <a:prstDash val="solid"/>
            <a:headEnd type="none"/>
            <a:tailEnd type="triangle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9" name="Shape 17"/>
          <p:cNvSpPr/>
          <p:nvPr/>
        </p:nvSpPr>
        <p:spPr>
          <a:xfrm>
            <a:off x="4846320" y="2880360"/>
            <a:ext cx="502920" cy="0"/>
          </a:xfrm>
          <a:prstGeom prst="line">
            <a:avLst/>
          </a:prstGeom>
          <a:noFill/>
          <a:ln w="19050">
            <a:solidFill>
              <a:srgbClr val="1BA6C9"/>
            </a:solidFill>
            <a:prstDash val="solid"/>
            <a:headEnd type="none"/>
            <a:tailEnd type="triangle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0" name="Shape 18"/>
          <p:cNvSpPr/>
          <p:nvPr/>
        </p:nvSpPr>
        <p:spPr>
          <a:xfrm>
            <a:off x="7269480" y="2880360"/>
            <a:ext cx="2788920" cy="0"/>
          </a:xfrm>
          <a:prstGeom prst="line">
            <a:avLst/>
          </a:prstGeom>
          <a:noFill/>
          <a:ln w="19050">
            <a:solidFill>
              <a:srgbClr val="3CE3FF"/>
            </a:solidFill>
            <a:prstDash val="solid"/>
            <a:headEnd type="none"/>
            <a:tailEnd type="triangle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1" name="Shape 19"/>
          <p:cNvSpPr/>
          <p:nvPr/>
        </p:nvSpPr>
        <p:spPr>
          <a:xfrm>
            <a:off x="7269480" y="2468880"/>
            <a:ext cx="548640" cy="-1051560"/>
          </a:xfrm>
          <a:prstGeom prst="line">
            <a:avLst/>
          </a:prstGeom>
          <a:noFill/>
          <a:ln w="19050">
            <a:solidFill>
              <a:srgbClr val="67E8B9"/>
            </a:solidFill>
            <a:prstDash val="solid"/>
            <a:headEnd type="none"/>
            <a:tailEnd type="triangle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2" name="Shape 20"/>
          <p:cNvSpPr/>
          <p:nvPr/>
        </p:nvSpPr>
        <p:spPr>
          <a:xfrm>
            <a:off x="7269480" y="2880360"/>
            <a:ext cx="548640" cy="182880"/>
          </a:xfrm>
          <a:prstGeom prst="line">
            <a:avLst/>
          </a:prstGeom>
          <a:noFill/>
          <a:ln w="19050">
            <a:solidFill>
              <a:srgbClr val="F6C85F"/>
            </a:solidFill>
            <a:prstDash val="solid"/>
            <a:headEnd type="none"/>
            <a:tailEnd type="triangle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3" name="Shape 21"/>
          <p:cNvSpPr/>
          <p:nvPr/>
        </p:nvSpPr>
        <p:spPr>
          <a:xfrm>
            <a:off x="7269480" y="3273552"/>
            <a:ext cx="548640" cy="1389888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  <a:headEnd type="none"/>
            <a:tailEnd type="triangle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4" name="Shape 22"/>
          <p:cNvSpPr/>
          <p:nvPr/>
        </p:nvSpPr>
        <p:spPr>
          <a:xfrm>
            <a:off x="914400" y="54406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0"/>
            </a:srgbClr>
          </a:solidFill>
          <a:ln w="16510">
            <a:solidFill>
              <a:srgbClr val="3CE3FF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5" name="Text 23"/>
          <p:cNvSpPr/>
          <p:nvPr/>
        </p:nvSpPr>
        <p:spPr>
          <a:xfrm>
            <a:off x="987552" y="5550408"/>
            <a:ext cx="104241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50" b="1" dirty="0">
                <a:solidFill>
                  <a:srgbClr val="CFDDE8"/>
                </a:solidFill>
              </a:rPr>
              <a:t>Orq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0" y="54406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0"/>
            </a:srgbClr>
          </a:solidFill>
          <a:ln w="16510">
            <a:solidFill>
              <a:srgbClr val="67E8B9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7" name="Text 25"/>
          <p:cNvSpPr/>
          <p:nvPr/>
        </p:nvSpPr>
        <p:spPr>
          <a:xfrm>
            <a:off x="2816352" y="5550408"/>
            <a:ext cx="104241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50" b="1" dirty="0">
                <a:solidFill>
                  <a:srgbClr val="CFDDE8"/>
                </a:solidFill>
              </a:rPr>
              <a:t>Analista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0" y="54406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0"/>
            </a:srgbClr>
          </a:solidFill>
          <a:ln w="16510">
            <a:solidFill>
              <a:srgbClr val="F6C85F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9" name="Text 27"/>
          <p:cNvSpPr/>
          <p:nvPr/>
        </p:nvSpPr>
        <p:spPr>
          <a:xfrm>
            <a:off x="4645152" y="5550408"/>
            <a:ext cx="104241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50" b="1" dirty="0">
                <a:solidFill>
                  <a:srgbClr val="CFDDE8"/>
                </a:solidFill>
              </a:rPr>
              <a:t>RAG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400800" y="54406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0"/>
            </a:srgbClr>
          </a:solidFill>
          <a:ln w="16510">
            <a:solidFill>
              <a:srgbClr val="FF6B6B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31" name="Text 29"/>
          <p:cNvSpPr/>
          <p:nvPr/>
        </p:nvSpPr>
        <p:spPr>
          <a:xfrm>
            <a:off x="6473952" y="5550408"/>
            <a:ext cx="104241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50" b="1" dirty="0">
                <a:solidFill>
                  <a:srgbClr val="CFDDE8"/>
                </a:solidFill>
              </a:rPr>
              <a:t>Ejecutor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229600" y="54406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0"/>
            </a:srgbClr>
          </a:solidFill>
          <a:ln w="16510">
            <a:solidFill>
              <a:srgbClr val="7A7DFF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33" name="Text 31"/>
          <p:cNvSpPr/>
          <p:nvPr/>
        </p:nvSpPr>
        <p:spPr>
          <a:xfrm>
            <a:off x="8302752" y="5550408"/>
            <a:ext cx="104241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50" b="1" dirty="0">
                <a:solidFill>
                  <a:srgbClr val="CFDDE8"/>
                </a:solidFill>
              </a:rPr>
              <a:t>Validador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0058400" y="54406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0"/>
            </a:srgbClr>
          </a:solidFill>
          <a:ln w="16510">
            <a:solidFill>
              <a:srgbClr val="1BA6C9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35" name="Text 33"/>
          <p:cNvSpPr/>
          <p:nvPr/>
        </p:nvSpPr>
        <p:spPr>
          <a:xfrm>
            <a:off x="10131552" y="5550408"/>
            <a:ext cx="104241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50" b="1" dirty="0">
                <a:solidFill>
                  <a:srgbClr val="CFDDE8"/>
                </a:solidFill>
              </a:rPr>
              <a:t>Redactor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309360" y="3611880"/>
            <a:ext cx="0" cy="1783080"/>
          </a:xfrm>
          <a:prstGeom prst="line">
            <a:avLst/>
          </a:prstGeom>
          <a:noFill/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37" name="Shape 35"/>
          <p:cNvSpPr/>
          <p:nvPr/>
        </p:nvSpPr>
        <p:spPr>
          <a:xfrm>
            <a:off x="1508760" y="5257800"/>
            <a:ext cx="9144000" cy="0"/>
          </a:xfrm>
          <a:prstGeom prst="line">
            <a:avLst/>
          </a:prstGeom>
          <a:noFill/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38" name="Text 36"/>
          <p:cNvSpPr/>
          <p:nvPr/>
        </p:nvSpPr>
        <p:spPr>
          <a:xfrm>
            <a:off x="914400" y="59893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200" dirty="0">
                <a:solidFill>
                  <a:srgbClr val="CFDDE8"/>
                </a:solidFill>
              </a:rPr>
              <a:t>Los eventos del grafo alimentan la visualización de estados de los agentes.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DB7C9"/>
                </a:solidFill>
              </a:defRPr>
            </a:lvl1pPr>
          </a:lstStyle>
          <a:p>
            <a:pPr algn="l">
              <a:defRPr>
                <a:solidFill>
                  <a:srgbClr val="CFDDE8"/>
                </a:solidFill>
              </a:defRPr>
            </a:pPr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30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Experiencia de usuario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dirty="0">
                <a:solidFill>
                  <a:srgbClr val="CFDDE8"/>
                </a:solidFill>
              </a:rPr>
              <a:t>El escenario hospitalario es el protagonista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10927080" cy="4434840"/>
          </a:xfrm>
          <a:prstGeom prst="roundRect">
            <a:avLst>
              <a:gd name="adj" fmla="val 2062"/>
            </a:avLst>
          </a:prstGeom>
          <a:solidFill>
            <a:srgbClr val="FFFFFF">
              <a:alpha val="0"/>
            </a:srgbClr>
          </a:solidFill>
          <a:ln w="1524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300" b="1" dirty="0">
                <a:solidFill>
                  <a:srgbClr val="CFDDE8"/>
                </a:solidFill>
              </a:rPr>
              <a:t>Hospital Triage AI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2331720" cy="3429000"/>
          </a:xfrm>
          <a:prstGeom prst="roundRect">
            <a:avLst>
              <a:gd name="adj" fmla="val 3137"/>
            </a:avLst>
          </a:prstGeom>
          <a:solidFill>
            <a:srgbClr val="FFFFFF">
              <a:alpha val="0"/>
            </a:srgbClr>
          </a:solidFill>
          <a:ln w="12700">
            <a:solidFill>
              <a:srgbClr val="1B3A4E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7" name="Text 5"/>
          <p:cNvSpPr/>
          <p:nvPr/>
        </p:nvSpPr>
        <p:spPr>
          <a:xfrm>
            <a:off x="1078992" y="18745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100" b="1" dirty="0">
                <a:solidFill>
                  <a:srgbClr val="CFDDE8"/>
                </a:solidFill>
              </a:rPr>
              <a:t>Formulario paciente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2240280"/>
            <a:ext cx="1874520" cy="228600"/>
          </a:xfrm>
          <a:prstGeom prst="roundRect">
            <a:avLst>
              <a:gd name="adj" fmla="val 12000"/>
            </a:avLst>
          </a:prstGeom>
          <a:solidFill>
            <a:srgbClr val="FFFFFF">
              <a:alpha val="0"/>
            </a:srgbClr>
          </a:solidFill>
          <a:ln w="6350">
            <a:solidFill>
              <a:srgbClr val="1F4D65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9" name="Text 7"/>
          <p:cNvSpPr/>
          <p:nvPr/>
        </p:nvSpPr>
        <p:spPr>
          <a:xfrm>
            <a:off x="1207008" y="2295144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750" dirty="0">
                <a:solidFill>
                  <a:srgbClr val="CFDDE8"/>
                </a:solidFill>
              </a:rPr>
              <a:t>Edad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097280" y="2624328"/>
            <a:ext cx="1874520" cy="228600"/>
          </a:xfrm>
          <a:prstGeom prst="roundRect">
            <a:avLst>
              <a:gd name="adj" fmla="val 12000"/>
            </a:avLst>
          </a:prstGeom>
          <a:solidFill>
            <a:srgbClr val="FFFFFF">
              <a:alpha val="0"/>
            </a:srgbClr>
          </a:solidFill>
          <a:ln w="6350">
            <a:solidFill>
              <a:srgbClr val="1F4D65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1" name="Text 9"/>
          <p:cNvSpPr/>
          <p:nvPr/>
        </p:nvSpPr>
        <p:spPr>
          <a:xfrm>
            <a:off x="1207008" y="2679192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750" dirty="0">
                <a:solidFill>
                  <a:srgbClr val="CFDDE8"/>
                </a:solidFill>
              </a:rPr>
              <a:t>Síntomas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97280" y="3008376"/>
            <a:ext cx="1874520" cy="228600"/>
          </a:xfrm>
          <a:prstGeom prst="roundRect">
            <a:avLst>
              <a:gd name="adj" fmla="val 12000"/>
            </a:avLst>
          </a:prstGeom>
          <a:solidFill>
            <a:srgbClr val="FFFFFF">
              <a:alpha val="0"/>
            </a:srgbClr>
          </a:solidFill>
          <a:ln w="6350">
            <a:solidFill>
              <a:srgbClr val="1F4D65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3" name="Text 11"/>
          <p:cNvSpPr/>
          <p:nvPr/>
        </p:nvSpPr>
        <p:spPr>
          <a:xfrm>
            <a:off x="1207008" y="306324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750" dirty="0">
                <a:solidFill>
                  <a:srgbClr val="CFDDE8"/>
                </a:solidFill>
              </a:rPr>
              <a:t>Antecedentes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097280" y="3392424"/>
            <a:ext cx="1874520" cy="228600"/>
          </a:xfrm>
          <a:prstGeom prst="roundRect">
            <a:avLst>
              <a:gd name="adj" fmla="val 12000"/>
            </a:avLst>
          </a:prstGeom>
          <a:solidFill>
            <a:srgbClr val="FFFFFF">
              <a:alpha val="0"/>
            </a:srgbClr>
          </a:solidFill>
          <a:ln w="6350">
            <a:solidFill>
              <a:srgbClr val="1F4D65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5" name="Text 13"/>
          <p:cNvSpPr/>
          <p:nvPr/>
        </p:nvSpPr>
        <p:spPr>
          <a:xfrm>
            <a:off x="1207008" y="3447288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750" dirty="0">
                <a:solidFill>
                  <a:srgbClr val="CFDDE8"/>
                </a:solidFill>
              </a:rPr>
              <a:t>Sat. O₂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097280" y="3776472"/>
            <a:ext cx="1874520" cy="228600"/>
          </a:xfrm>
          <a:prstGeom prst="roundRect">
            <a:avLst>
              <a:gd name="adj" fmla="val 12000"/>
            </a:avLst>
          </a:prstGeom>
          <a:solidFill>
            <a:srgbClr val="FFFFFF">
              <a:alpha val="0"/>
            </a:srgbClr>
          </a:solidFill>
          <a:ln w="6350">
            <a:solidFill>
              <a:srgbClr val="1F4D65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7" name="Text 15"/>
          <p:cNvSpPr/>
          <p:nvPr/>
        </p:nvSpPr>
        <p:spPr>
          <a:xfrm>
            <a:off x="1207008" y="3831336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750" dirty="0">
                <a:solidFill>
                  <a:srgbClr val="CFDDE8"/>
                </a:solidFill>
              </a:rPr>
              <a:t>FC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261872" y="4709160"/>
            <a:ext cx="1508760" cy="256032"/>
          </a:xfrm>
          <a:prstGeom prst="roundRect">
            <a:avLst>
              <a:gd name="adj" fmla="val 21429"/>
            </a:avLst>
          </a:prstGeom>
          <a:solidFill>
            <a:srgbClr val="1BA6C9"/>
          </a:solidFill>
          <a:ln w="12700">
            <a:solidFill>
              <a:srgbClr val="1BA6C9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9" name="Text 17"/>
          <p:cNvSpPr/>
          <p:nvPr/>
        </p:nvSpPr>
        <p:spPr>
          <a:xfrm>
            <a:off x="1371600" y="4782312"/>
            <a:ext cx="1280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750" b="1" dirty="0">
                <a:solidFill>
                  <a:srgbClr val="CFDDE8"/>
                </a:solidFill>
              </a:rPr>
              <a:t>Analizar caso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520440" y="1691640"/>
            <a:ext cx="5303520" cy="3429000"/>
          </a:xfrm>
          <a:prstGeom prst="roundRect">
            <a:avLst>
              <a:gd name="adj" fmla="val 2133"/>
            </a:avLst>
          </a:prstGeom>
          <a:solidFill>
            <a:srgbClr val="FFFFFF">
              <a:alpha val="0"/>
            </a:srgbClr>
          </a:solidFill>
          <a:ln w="12700">
            <a:solidFill>
              <a:srgbClr val="1BA6C9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1" name="Text 19"/>
          <p:cNvSpPr/>
          <p:nvPr/>
        </p:nvSpPr>
        <p:spPr>
          <a:xfrm>
            <a:off x="3840480" y="187452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100" b="1" dirty="0">
                <a:solidFill>
                  <a:srgbClr val="CFDDE8"/>
                </a:solidFill>
              </a:rPr>
              <a:t>Escenario hospitalario pixelado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97880" y="2286000"/>
            <a:ext cx="438912" cy="438912"/>
          </a:xfrm>
          <a:prstGeom prst="ellipse">
            <a:avLst/>
          </a:prstGeom>
          <a:solidFill>
            <a:srgbClr val="3CE3FF"/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3" name="Shape 21"/>
          <p:cNvSpPr/>
          <p:nvPr/>
        </p:nvSpPr>
        <p:spPr>
          <a:xfrm>
            <a:off x="4572000" y="3108960"/>
            <a:ext cx="438912" cy="438912"/>
          </a:xfrm>
          <a:prstGeom prst="ellipse">
            <a:avLst/>
          </a:prstGeom>
          <a:solidFill>
            <a:srgbClr val="67E8B9"/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4" name="Shape 22"/>
          <p:cNvSpPr/>
          <p:nvPr/>
        </p:nvSpPr>
        <p:spPr>
          <a:xfrm>
            <a:off x="7223760" y="3108960"/>
            <a:ext cx="438912" cy="438912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5" name="Shape 23"/>
          <p:cNvSpPr/>
          <p:nvPr/>
        </p:nvSpPr>
        <p:spPr>
          <a:xfrm>
            <a:off x="4572000" y="4160520"/>
            <a:ext cx="438912" cy="43891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6" name="Shape 24"/>
          <p:cNvSpPr/>
          <p:nvPr/>
        </p:nvSpPr>
        <p:spPr>
          <a:xfrm>
            <a:off x="7223760" y="4160520"/>
            <a:ext cx="438912" cy="438912"/>
          </a:xfrm>
          <a:prstGeom prst="ellipse">
            <a:avLst/>
          </a:prstGeom>
          <a:solidFill>
            <a:srgbClr val="7A7DFF"/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7" name="Shape 25"/>
          <p:cNvSpPr/>
          <p:nvPr/>
        </p:nvSpPr>
        <p:spPr>
          <a:xfrm>
            <a:off x="5897880" y="4663440"/>
            <a:ext cx="438912" cy="438912"/>
          </a:xfrm>
          <a:prstGeom prst="ellipse">
            <a:avLst/>
          </a:prstGeom>
          <a:solidFill>
            <a:srgbClr val="1BA6C9"/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8" name="Shape 26"/>
          <p:cNvSpPr/>
          <p:nvPr/>
        </p:nvSpPr>
        <p:spPr>
          <a:xfrm>
            <a:off x="9098280" y="1691640"/>
            <a:ext cx="2240280" cy="3429000"/>
          </a:xfrm>
          <a:prstGeom prst="roundRect">
            <a:avLst>
              <a:gd name="adj" fmla="val 3265"/>
            </a:avLst>
          </a:prstGeom>
          <a:solidFill>
            <a:srgbClr val="FFFFFF">
              <a:alpha val="0"/>
            </a:srgbClr>
          </a:solidFill>
          <a:ln w="12700">
            <a:solidFill>
              <a:srgbClr val="1B3A4E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9" name="Text 27"/>
          <p:cNvSpPr/>
          <p:nvPr/>
        </p:nvSpPr>
        <p:spPr>
          <a:xfrm>
            <a:off x="9281160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100" b="1" dirty="0">
                <a:solidFill>
                  <a:srgbClr val="CFDDE8"/>
                </a:solidFill>
              </a:rPr>
              <a:t>Timeline / informe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308592" y="2304288"/>
            <a:ext cx="118872" cy="118872"/>
          </a:xfrm>
          <a:prstGeom prst="ellipse">
            <a:avLst/>
          </a:prstGeom>
          <a:solidFill>
            <a:srgbClr val="67E8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31" name="Text 29"/>
          <p:cNvSpPr/>
          <p:nvPr/>
        </p:nvSpPr>
        <p:spPr>
          <a:xfrm>
            <a:off x="9509760" y="225856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750" dirty="0">
                <a:solidFill>
                  <a:srgbClr val="CFDDE8"/>
                </a:solidFill>
              </a:rPr>
              <a:t>Orq recibe caso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308592" y="2743200"/>
            <a:ext cx="118872" cy="118872"/>
          </a:xfrm>
          <a:prstGeom prst="ellipse">
            <a:avLst/>
          </a:prstGeom>
          <a:solidFill>
            <a:srgbClr val="67E8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33" name="Text 31"/>
          <p:cNvSpPr/>
          <p:nvPr/>
        </p:nvSpPr>
        <p:spPr>
          <a:xfrm>
            <a:off x="9509760" y="26974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750" dirty="0">
                <a:solidFill>
                  <a:srgbClr val="CFDDE8"/>
                </a:solidFill>
              </a:rPr>
              <a:t>Analista detecta riesgo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308592" y="3182112"/>
            <a:ext cx="118872" cy="118872"/>
          </a:xfrm>
          <a:prstGeom prst="ellipse">
            <a:avLst/>
          </a:prstGeom>
          <a:solidFill>
            <a:srgbClr val="67E8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35" name="Text 33"/>
          <p:cNvSpPr/>
          <p:nvPr/>
        </p:nvSpPr>
        <p:spPr>
          <a:xfrm>
            <a:off x="9509760" y="31363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750" dirty="0">
                <a:solidFill>
                  <a:srgbClr val="CFDDE8"/>
                </a:solidFill>
              </a:rPr>
              <a:t>RAG consulta protocolos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308592" y="3621024"/>
            <a:ext cx="118872" cy="118872"/>
          </a:xfrm>
          <a:prstGeom prst="ellipse">
            <a:avLst/>
          </a:prstGeom>
          <a:solidFill>
            <a:srgbClr val="67E8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37" name="Text 35"/>
          <p:cNvSpPr/>
          <p:nvPr/>
        </p:nvSpPr>
        <p:spPr>
          <a:xfrm>
            <a:off x="9509760" y="357530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750" dirty="0">
                <a:solidFill>
                  <a:srgbClr val="CFDDE8"/>
                </a:solidFill>
              </a:rPr>
              <a:t>MCP consulta recursos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308592" y="4059936"/>
            <a:ext cx="118872" cy="118872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39" name="Text 37"/>
          <p:cNvSpPr/>
          <p:nvPr/>
        </p:nvSpPr>
        <p:spPr>
          <a:xfrm>
            <a:off x="9509760" y="401421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750" dirty="0">
                <a:solidFill>
                  <a:srgbClr val="CFDDE8"/>
                </a:solidFill>
              </a:rPr>
              <a:t>Informe generado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14400" y="58064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300" b="1" dirty="0">
                <a:solidFill>
                  <a:srgbClr val="CFDDE8"/>
                </a:solidFill>
              </a:rPr>
              <a:t>Una única pantalla: formulario compacto + escena central viva + trazabilidad.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DB7C9"/>
                </a:solidFill>
              </a:defRPr>
            </a:lvl1pPr>
          </a:lstStyle>
          <a:p>
            <a:pPr algn="l">
              <a:defRPr>
                <a:solidFill>
                  <a:srgbClr val="CFDDE8"/>
                </a:solidFill>
              </a:defRPr>
            </a:pPr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30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Agentes y responsabilidades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dirty="0">
                <a:solidFill>
                  <a:srgbClr val="CFDDE8"/>
                </a:solidFill>
              </a:rPr>
              <a:t>Cada agente tiene una tarea clara y visible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3CE3FF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5" name="Shape 3"/>
          <p:cNvSpPr/>
          <p:nvPr/>
        </p:nvSpPr>
        <p:spPr>
          <a:xfrm>
            <a:off x="914400" y="1527048"/>
            <a:ext cx="475488" cy="475488"/>
          </a:xfrm>
          <a:prstGeom prst="ellipse">
            <a:avLst/>
          </a:prstGeom>
          <a:solidFill>
            <a:srgbClr val="3CE3F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6" name="Text 4"/>
          <p:cNvSpPr/>
          <p:nvPr/>
        </p:nvSpPr>
        <p:spPr>
          <a:xfrm>
            <a:off x="1536192" y="14356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400" b="1" dirty="0">
                <a:solidFill>
                  <a:srgbClr val="CFDDE8"/>
                </a:solidFill>
              </a:rPr>
              <a:t>Coordinador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36192" y="173736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950" dirty="0">
                <a:solidFill>
                  <a:srgbClr val="CFDDE8"/>
                </a:solidFill>
              </a:rPr>
              <a:t>Decide el flujo y delega tareas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69080" y="1399032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FFFFFF">
              <a:alpha val="0"/>
            </a:srgbClr>
          </a:solidFill>
          <a:ln w="10160">
            <a:solidFill>
              <a:srgbClr val="3CE3FF">
                <a:alpha val="70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9" name="Text 7"/>
          <p:cNvSpPr/>
          <p:nvPr/>
        </p:nvSpPr>
        <p:spPr>
          <a:xfrm>
            <a:off x="4133088" y="1463040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680" dirty="0">
                <a:solidFill>
                  <a:srgbClr val="A0B4C3"/>
                </a:solidFill>
              </a:rPr>
              <a:t>receiving_case / thinking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6263640" y="123444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67E8B9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1" name="Shape 9"/>
          <p:cNvSpPr/>
          <p:nvPr/>
        </p:nvSpPr>
        <p:spPr>
          <a:xfrm>
            <a:off x="6446520" y="1527048"/>
            <a:ext cx="475488" cy="475488"/>
          </a:xfrm>
          <a:prstGeom prst="ellipse">
            <a:avLst/>
          </a:prstGeom>
          <a:solidFill>
            <a:srgbClr val="67E8B9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2" name="Text 10"/>
          <p:cNvSpPr/>
          <p:nvPr/>
        </p:nvSpPr>
        <p:spPr>
          <a:xfrm>
            <a:off x="7068312" y="14356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400" b="1" dirty="0">
                <a:solidFill>
                  <a:srgbClr val="CFDDE8"/>
                </a:solidFill>
              </a:rPr>
              <a:t>Analista clínico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68312" y="173736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950" dirty="0">
                <a:solidFill>
                  <a:srgbClr val="CFDDE8"/>
                </a:solidFill>
              </a:rPr>
              <a:t>Detecta riesgo en síntomas y constantes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01200" y="1399032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FFFFFF">
              <a:alpha val="0"/>
            </a:srgbClr>
          </a:solidFill>
          <a:ln w="10160">
            <a:solidFill>
              <a:srgbClr val="67E8B9">
                <a:alpha val="70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5" name="Text 13"/>
          <p:cNvSpPr/>
          <p:nvPr/>
        </p:nvSpPr>
        <p:spPr>
          <a:xfrm>
            <a:off x="9665208" y="1463040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680" dirty="0">
                <a:solidFill>
                  <a:srgbClr val="A0B4C3"/>
                </a:solidFill>
              </a:rPr>
              <a:t>analyzing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731520" y="274320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F6C85F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7" name="Shape 15"/>
          <p:cNvSpPr/>
          <p:nvPr/>
        </p:nvSpPr>
        <p:spPr>
          <a:xfrm>
            <a:off x="914400" y="3035808"/>
            <a:ext cx="475488" cy="47548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8" name="Text 16"/>
          <p:cNvSpPr/>
          <p:nvPr/>
        </p:nvSpPr>
        <p:spPr>
          <a:xfrm>
            <a:off x="1536192" y="29443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400" b="1" dirty="0">
                <a:solidFill>
                  <a:srgbClr val="CFDDE8"/>
                </a:solidFill>
              </a:rPr>
              <a:t>Investigador RAG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36192" y="324612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950" dirty="0">
                <a:solidFill>
                  <a:srgbClr val="CFDDE8"/>
                </a:solidFill>
              </a:rPr>
              <a:t>Recupera protocolos con Elasticsearch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069080" y="2907792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FFFFFF">
              <a:alpha val="0"/>
            </a:srgbClr>
          </a:solidFill>
          <a:ln w="10160">
            <a:solidFill>
              <a:srgbClr val="F6C85F">
                <a:alpha val="70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1" name="Text 19"/>
          <p:cNvSpPr/>
          <p:nvPr/>
        </p:nvSpPr>
        <p:spPr>
          <a:xfrm>
            <a:off x="4133088" y="2971800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680" dirty="0">
                <a:solidFill>
                  <a:srgbClr val="A0B4C3"/>
                </a:solidFill>
              </a:rPr>
              <a:t>searching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6263640" y="274320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3" name="Shape 21"/>
          <p:cNvSpPr/>
          <p:nvPr/>
        </p:nvSpPr>
        <p:spPr>
          <a:xfrm>
            <a:off x="6446520" y="3035808"/>
            <a:ext cx="475488" cy="47548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4" name="Text 22"/>
          <p:cNvSpPr/>
          <p:nvPr/>
        </p:nvSpPr>
        <p:spPr>
          <a:xfrm>
            <a:off x="7068312" y="29443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400" b="1" dirty="0">
                <a:solidFill>
                  <a:srgbClr val="CFDDE8"/>
                </a:solidFill>
              </a:rPr>
              <a:t>Ejecutor MCP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68312" y="324612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950" dirty="0">
                <a:solidFill>
                  <a:srgbClr val="CFDDE8"/>
                </a:solidFill>
              </a:rPr>
              <a:t>Consulta herramientas hospitalarias simuladas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601200" y="2907792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FFFFFF">
              <a:alpha val="0"/>
            </a:srgbClr>
          </a:solidFill>
          <a:ln w="10160">
            <a:solidFill>
              <a:srgbClr val="FF6B6B">
                <a:alpha val="70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7" name="Text 25"/>
          <p:cNvSpPr/>
          <p:nvPr/>
        </p:nvSpPr>
        <p:spPr>
          <a:xfrm>
            <a:off x="9665208" y="2971800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680" dirty="0">
                <a:solidFill>
                  <a:srgbClr val="A0B4C3"/>
                </a:solidFill>
              </a:rPr>
              <a:t>executing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31520" y="425196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7A7DFF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9" name="Shape 27"/>
          <p:cNvSpPr/>
          <p:nvPr/>
        </p:nvSpPr>
        <p:spPr>
          <a:xfrm>
            <a:off x="914400" y="4544568"/>
            <a:ext cx="475488" cy="475488"/>
          </a:xfrm>
          <a:prstGeom prst="ellipse">
            <a:avLst/>
          </a:prstGeom>
          <a:solidFill>
            <a:srgbClr val="7A7DF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30" name="Text 28"/>
          <p:cNvSpPr/>
          <p:nvPr/>
        </p:nvSpPr>
        <p:spPr>
          <a:xfrm>
            <a:off x="1536192" y="44531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400" b="1" dirty="0">
                <a:solidFill>
                  <a:srgbClr val="CFDDE8"/>
                </a:solidFill>
              </a:rPr>
              <a:t>Validador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36192" y="475488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950" dirty="0">
                <a:solidFill>
                  <a:srgbClr val="CFDDE8"/>
                </a:solidFill>
              </a:rPr>
              <a:t>Revisa seguridad y límites clínicos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069080" y="4416552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FFFFFF">
              <a:alpha val="0"/>
            </a:srgbClr>
          </a:solidFill>
          <a:ln w="10160">
            <a:solidFill>
              <a:srgbClr val="7A7DFF">
                <a:alpha val="70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33" name="Text 31"/>
          <p:cNvSpPr/>
          <p:nvPr/>
        </p:nvSpPr>
        <p:spPr>
          <a:xfrm>
            <a:off x="4133088" y="4480560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680" dirty="0">
                <a:solidFill>
                  <a:srgbClr val="A0B4C3"/>
                </a:solidFill>
              </a:rPr>
              <a:t>validating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6263640" y="425196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1BA6C9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35" name="Shape 33"/>
          <p:cNvSpPr/>
          <p:nvPr/>
        </p:nvSpPr>
        <p:spPr>
          <a:xfrm>
            <a:off x="6446520" y="4544568"/>
            <a:ext cx="475488" cy="475488"/>
          </a:xfrm>
          <a:prstGeom prst="ellipse">
            <a:avLst/>
          </a:prstGeom>
          <a:solidFill>
            <a:srgbClr val="1BA6C9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36" name="Text 34"/>
          <p:cNvSpPr/>
          <p:nvPr/>
        </p:nvSpPr>
        <p:spPr>
          <a:xfrm>
            <a:off x="7068312" y="44531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400" b="1" dirty="0">
                <a:solidFill>
                  <a:srgbClr val="CFDDE8"/>
                </a:solidFill>
              </a:rPr>
              <a:t>Redactor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68312" y="475488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950" dirty="0">
                <a:solidFill>
                  <a:srgbClr val="CFDDE8"/>
                </a:solidFill>
              </a:rPr>
              <a:t>Genera informe preliminar final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601200" y="4416552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FFFFFF">
              <a:alpha val="0"/>
            </a:srgbClr>
          </a:solidFill>
          <a:ln w="10160">
            <a:solidFill>
              <a:srgbClr val="1BA6C9">
                <a:alpha val="70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39" name="Text 37"/>
          <p:cNvSpPr/>
          <p:nvPr/>
        </p:nvSpPr>
        <p:spPr>
          <a:xfrm>
            <a:off x="9665208" y="4480560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680" dirty="0">
                <a:solidFill>
                  <a:srgbClr val="A0B4C3"/>
                </a:solidFill>
              </a:rPr>
              <a:t>writing / completed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822960" y="580644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150" dirty="0">
                <a:solidFill>
                  <a:srgbClr val="CFDDE8"/>
                </a:solidFill>
              </a:rPr>
              <a:t>Estados mínimos: idle · receiving_case · thinking · walking · analyzing · searching · executing · validating · writing · completed · blocked · error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DB7C9"/>
                </a:solidFill>
              </a:defRPr>
            </a:lvl1pPr>
          </a:lstStyle>
          <a:p>
            <a:pPr algn="l">
              <a:defRPr>
                <a:solidFill>
                  <a:srgbClr val="CFDDE8"/>
                </a:solidFill>
              </a:defRPr>
            </a:pPr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30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Observabilidad visual de 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dirty="0">
                <a:solidFill>
                  <a:srgbClr val="CFDDE8"/>
                </a:solidFill>
              </a:rPr>
              <a:t>No es estética de videojuego: es supervisión operativa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10698480" cy="1170432"/>
          </a:xfrm>
          <a:prstGeom prst="roundRect">
            <a:avLst>
              <a:gd name="adj" fmla="val 7813"/>
            </a:avLst>
          </a:prstGeom>
          <a:solidFill>
            <a:srgbClr val="FFFFFF">
              <a:alpha val="0"/>
            </a:srgbClr>
          </a:solidFill>
          <a:ln w="13970">
            <a:solidFill>
              <a:srgbClr val="3CE3FF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5" name="Text 3"/>
          <p:cNvSpPr/>
          <p:nvPr/>
        </p:nvSpPr>
        <p:spPr>
          <a:xfrm>
            <a:off x="1005840" y="1481328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500" b="1" dirty="0">
                <a:solidFill>
                  <a:srgbClr val="CFDDE8"/>
                </a:solidFill>
              </a:rPr>
              <a:t>Cada agente visual representa el estado operativo de una entidad autónoma del sistema. La representación visual permite supervisión humana en tiempo real, trazabilidad de tareas y detección temprana de fallos o consumo ineficiente de recursos.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83464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0"/>
            </a:srgbClr>
          </a:solidFill>
          <a:ln w="12700">
            <a:solidFill>
              <a:srgbClr val="9AB3C3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7" name="Shape 5"/>
          <p:cNvSpPr/>
          <p:nvPr/>
        </p:nvSpPr>
        <p:spPr>
          <a:xfrm>
            <a:off x="1033272" y="2999232"/>
            <a:ext cx="384048" cy="384048"/>
          </a:xfrm>
          <a:prstGeom prst="ellipse">
            <a:avLst/>
          </a:prstGeom>
          <a:solidFill>
            <a:srgbClr val="9AB3C3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8" name="Text 6"/>
          <p:cNvSpPr/>
          <p:nvPr/>
        </p:nvSpPr>
        <p:spPr>
          <a:xfrm>
            <a:off x="1554480" y="29809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00" b="1" dirty="0">
                <a:solidFill>
                  <a:srgbClr val="CFDDE8"/>
                </a:solidFill>
              </a:rPr>
              <a:t>Quieto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322783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60" dirty="0">
                <a:solidFill>
                  <a:srgbClr val="CFDDE8"/>
                </a:solidFill>
              </a:rPr>
              <a:t>Bloqueo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4572000" y="283464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0"/>
            </a:srgbClr>
          </a:solidFill>
          <a:ln w="12700">
            <a:solidFill>
              <a:srgbClr val="F6C85F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1" name="Shape 9"/>
          <p:cNvSpPr/>
          <p:nvPr/>
        </p:nvSpPr>
        <p:spPr>
          <a:xfrm>
            <a:off x="4736592" y="2999232"/>
            <a:ext cx="384048" cy="38404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2" name="Text 10"/>
          <p:cNvSpPr/>
          <p:nvPr/>
        </p:nvSpPr>
        <p:spPr>
          <a:xfrm>
            <a:off x="5257800" y="29809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00" b="1" dirty="0">
                <a:solidFill>
                  <a:srgbClr val="CFDDE8"/>
                </a:solidFill>
              </a:rPr>
              <a:t>Dando vueltas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57800" y="322783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60" dirty="0">
                <a:solidFill>
                  <a:srgbClr val="CFDDE8"/>
                </a:solidFill>
              </a:rPr>
              <a:t>Loop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8275320" y="283464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0"/>
            </a:srgbClr>
          </a:solidFill>
          <a:ln w="12700">
            <a:solidFill>
              <a:srgbClr val="7A7DFF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5" name="Shape 13"/>
          <p:cNvSpPr/>
          <p:nvPr/>
        </p:nvSpPr>
        <p:spPr>
          <a:xfrm>
            <a:off x="8439912" y="2999232"/>
            <a:ext cx="384048" cy="384048"/>
          </a:xfrm>
          <a:prstGeom prst="ellipse">
            <a:avLst/>
          </a:prstGeom>
          <a:solidFill>
            <a:srgbClr val="7A7DF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6" name="Text 14"/>
          <p:cNvSpPr/>
          <p:nvPr/>
        </p:nvSpPr>
        <p:spPr>
          <a:xfrm>
            <a:off x="8961120" y="29809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00" b="1" dirty="0">
                <a:solidFill>
                  <a:srgbClr val="CFDDE8"/>
                </a:solidFill>
              </a:rPr>
              <a:t>Muchos en zona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0" y="322783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60" dirty="0">
                <a:solidFill>
                  <a:srgbClr val="CFDDE8"/>
                </a:solidFill>
              </a:rPr>
              <a:t>Cuello de botella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868680" y="393192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9" name="Shape 17"/>
          <p:cNvSpPr/>
          <p:nvPr/>
        </p:nvSpPr>
        <p:spPr>
          <a:xfrm>
            <a:off x="1033272" y="4096512"/>
            <a:ext cx="384048" cy="38404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0" name="Text 18"/>
          <p:cNvSpPr/>
          <p:nvPr/>
        </p:nvSpPr>
        <p:spPr>
          <a:xfrm>
            <a:off x="1554480" y="40782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00" b="1" dirty="0">
                <a:solidFill>
                  <a:srgbClr val="CFDDE8"/>
                </a:solidFill>
              </a:rPr>
              <a:t>Rojo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432511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60" dirty="0">
                <a:solidFill>
                  <a:srgbClr val="CFDDE8"/>
                </a:solidFill>
              </a:rPr>
              <a:t>Error / token limit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4572000" y="393192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0"/>
            </a:srgbClr>
          </a:solidFill>
          <a:ln w="12700">
            <a:solidFill>
              <a:srgbClr val="F6C85F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3" name="Shape 21"/>
          <p:cNvSpPr/>
          <p:nvPr/>
        </p:nvSpPr>
        <p:spPr>
          <a:xfrm>
            <a:off x="4736592" y="4096512"/>
            <a:ext cx="384048" cy="38404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4" name="Text 22"/>
          <p:cNvSpPr/>
          <p:nvPr/>
        </p:nvSpPr>
        <p:spPr>
          <a:xfrm>
            <a:off x="5257800" y="40782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00" b="1" dirty="0">
                <a:solidFill>
                  <a:srgbClr val="CFDDE8"/>
                </a:solidFill>
              </a:rPr>
              <a:t>Amarillo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57800" y="432511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60" dirty="0">
                <a:solidFill>
                  <a:srgbClr val="CFDDE8"/>
                </a:solidFill>
              </a:rPr>
              <a:t>Esperando respuesta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8275320" y="393192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0"/>
            </a:srgbClr>
          </a:solidFill>
          <a:ln w="12700">
            <a:solidFill>
              <a:srgbClr val="67E8B9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7" name="Shape 25"/>
          <p:cNvSpPr/>
          <p:nvPr/>
        </p:nvSpPr>
        <p:spPr>
          <a:xfrm>
            <a:off x="8439912" y="4096512"/>
            <a:ext cx="384048" cy="384048"/>
          </a:xfrm>
          <a:prstGeom prst="ellipse">
            <a:avLst/>
          </a:prstGeom>
          <a:solidFill>
            <a:srgbClr val="67E8B9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8" name="Text 26"/>
          <p:cNvSpPr/>
          <p:nvPr/>
        </p:nvSpPr>
        <p:spPr>
          <a:xfrm>
            <a:off x="8961120" y="40782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00" b="1" dirty="0">
                <a:solidFill>
                  <a:srgbClr val="CFDDE8"/>
                </a:solidFill>
              </a:rPr>
              <a:t>Verde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961120" y="432511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60" dirty="0">
                <a:solidFill>
                  <a:srgbClr val="CFDDE8"/>
                </a:solidFill>
              </a:rPr>
              <a:t>Tarea completada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914400" y="544068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350" b="1" dirty="0">
                <a:solidFill>
                  <a:srgbClr val="CFDDE8"/>
                </a:solidFill>
              </a:rPr>
              <a:t>Valor enterprise: detectar loops, esperas, bloqueos, errores y sobreuso de LLM antes de que el operador tenga que leer logs eternos.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DB7C9"/>
                </a:solidFill>
              </a:defRPr>
            </a:lvl1pPr>
          </a:lstStyle>
          <a:p>
            <a:pPr algn="l">
              <a:defRPr>
                <a:solidFill>
                  <a:srgbClr val="CFDDE8"/>
                </a:solidFill>
              </a:defRPr>
            </a:pPr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30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en el MVP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dirty="0">
                <a:solidFill>
                  <a:srgbClr val="CFDDE8"/>
                </a:solidFill>
              </a:rPr>
              <a:t>Servidor local de alcance controlado, útil y defendible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0"/>
            </a:srgbClr>
          </a:solidFill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45720" cy="1417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6" name="Text 4"/>
          <p:cNvSpPr/>
          <p:nvPr/>
        </p:nvSpPr>
        <p:spPr>
          <a:xfrm>
            <a:off x="896112" y="1399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500" b="1" dirty="0">
                <a:solidFill>
                  <a:srgbClr val="CFDDE8"/>
                </a:solidFill>
              </a:rPr>
              <a:t>Qué será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1764792"/>
            <a:ext cx="315468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>
              <a:defRPr>
                <a:solidFill>
                  <a:srgbClr val="CFDDE8"/>
                </a:solidFill>
              </a:defRPr>
            </a:pPr>
            <a:r>
              <a:rPr>
                <a:solidFill>
                  <a:srgbClr val="CFDDE8"/>
                </a:solidFill>
              </a:rPr>
              <a:t>MCP Server local para exponer herramientas hospitalarias simuladas y herramientas de entrega documental del informe.</a:t>
            </a:r>
          </a:p>
        </p:txBody>
      </p:sp>
      <p:sp>
        <p:nvSpPr>
          <p:cNvPr id="8" name="Shape 6"/>
          <p:cNvSpPr/>
          <p:nvPr/>
        </p:nvSpPr>
        <p:spPr>
          <a:xfrm>
            <a:off x="4389120" y="12344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0"/>
            </a:srgbClr>
          </a:solidFill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9" name="Shape 7"/>
          <p:cNvSpPr/>
          <p:nvPr/>
        </p:nvSpPr>
        <p:spPr>
          <a:xfrm>
            <a:off x="4389120" y="1234440"/>
            <a:ext cx="45720" cy="1417320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0" name="Text 8"/>
          <p:cNvSpPr/>
          <p:nvPr/>
        </p:nvSpPr>
        <p:spPr>
          <a:xfrm>
            <a:off x="4553712" y="1399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500" b="1" dirty="0">
                <a:solidFill>
                  <a:srgbClr val="CFDDE8"/>
                </a:solidFill>
              </a:rPr>
              <a:t>Quién lo usa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53712" y="1764792"/>
            <a:ext cx="315468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dirty="0">
                <a:solidFill>
                  <a:srgbClr val="CFDDE8"/>
                </a:solidFill>
              </a:rPr>
              <a:t>Principalmente hospital_systems_executor para consultar contexto operativo.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2344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0"/>
            </a:srgbClr>
          </a:solidFill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3" name="Shape 11"/>
          <p:cNvSpPr/>
          <p:nvPr/>
        </p:nvSpPr>
        <p:spPr>
          <a:xfrm>
            <a:off x="8046720" y="1234440"/>
            <a:ext cx="45720" cy="1417320"/>
          </a:xfrm>
          <a:prstGeom prst="rect">
            <a:avLst/>
          </a:prstGeom>
          <a:solidFill>
            <a:srgbClr val="3CE3FF"/>
          </a:solidFill>
          <a:ln w="12700">
            <a:solidFill>
              <a:srgbClr val="3CE3FF">
                <a:alpha val="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4" name="Text 12"/>
          <p:cNvSpPr/>
          <p:nvPr/>
        </p:nvSpPr>
        <p:spPr>
          <a:xfrm>
            <a:off x="8211312" y="1399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500" b="1" dirty="0">
                <a:solidFill>
                  <a:srgbClr val="CFDDE8"/>
                </a:solidFill>
              </a:rPr>
              <a:t>Qué evita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11312" y="1764792"/>
            <a:ext cx="315468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dirty="0">
                <a:solidFill>
                  <a:srgbClr val="CFDDE8"/>
                </a:solidFill>
              </a:rPr>
              <a:t>No reemplaza FastAPI, LangGraph, MongoDB ni Elasticsearch. Es una integración acotada.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51560" y="3063240"/>
            <a:ext cx="10058400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0"/>
            </a:srgbClr>
          </a:solidFill>
          <a:ln w="889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7" name="Text 15"/>
          <p:cNvSpPr/>
          <p:nvPr/>
        </p:nvSpPr>
        <p:spPr>
          <a:xfrm>
            <a:off x="1261872" y="3154680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900" b="1" dirty="0">
                <a:solidFill>
                  <a:srgbClr val="CFDDE8"/>
                </a:solidFill>
              </a:rPr>
              <a:t>get_available_tests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97680" y="3154680"/>
            <a:ext cx="6126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900" dirty="0">
                <a:solidFill>
                  <a:srgbClr val="CFDDE8"/>
                </a:solidFill>
              </a:rPr>
              <a:t>Disponibilidad de pruebas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51560" y="3611880"/>
            <a:ext cx="10058400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0"/>
            </a:srgbClr>
          </a:solidFill>
          <a:ln w="889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0" name="Text 18"/>
          <p:cNvSpPr/>
          <p:nvPr/>
        </p:nvSpPr>
        <p:spPr>
          <a:xfrm>
            <a:off x="1261872" y="3703320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900" b="1" dirty="0">
                <a:solidFill>
                  <a:srgbClr val="CFDDE8"/>
                </a:solidFill>
              </a:rPr>
              <a:t>get_resource_status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97680" y="3703320"/>
            <a:ext cx="6126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900" dirty="0">
                <a:solidFill>
                  <a:srgbClr val="CFDDE8"/>
                </a:solidFill>
              </a:rPr>
              <a:t>Boxes, oxígeno y recursos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51560" y="4160520"/>
            <a:ext cx="10058400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0"/>
            </a:srgbClr>
          </a:solidFill>
          <a:ln w="889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3" name="Text 21"/>
          <p:cNvSpPr/>
          <p:nvPr/>
        </p:nvSpPr>
        <p:spPr>
          <a:xfrm>
            <a:off x="1261872" y="4251960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900" b="1" dirty="0">
                <a:solidFill>
                  <a:srgbClr val="CFDDE8"/>
                </a:solidFill>
              </a:rPr>
              <a:t>get_wait_time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97680" y="4251960"/>
            <a:ext cx="6126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900" dirty="0">
                <a:solidFill>
                  <a:srgbClr val="CFDDE8"/>
                </a:solidFill>
              </a:rPr>
              <a:t>Tiempo estimado de espera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51560" y="4709160"/>
            <a:ext cx="10058400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0"/>
            </a:srgbClr>
          </a:solidFill>
          <a:ln w="889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6" name="Text 24"/>
          <p:cNvSpPr/>
          <p:nvPr/>
        </p:nvSpPr>
        <p:spPr>
          <a:xfrm>
            <a:off x="1261872" y="4800600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900" b="1" dirty="0">
                <a:solidFill>
                  <a:srgbClr val="CFDDE8"/>
                </a:solidFill>
              </a:rPr>
              <a:t>get_operational_context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97680" y="4800600"/>
            <a:ext cx="6126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900" dirty="0">
                <a:solidFill>
                  <a:srgbClr val="CFDDE8"/>
                </a:solidFill>
              </a:rPr>
              <a:t>Contexto operativo simulado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60120" y="5532120"/>
            <a:ext cx="10241280" cy="475488"/>
          </a:xfrm>
          <a:prstGeom prst="roundRect">
            <a:avLst>
              <a:gd name="adj" fmla="val 15385"/>
            </a:avLst>
          </a:prstGeom>
          <a:solidFill>
            <a:srgbClr val="FFFFFF">
              <a:alpha val="0"/>
            </a:srgbClr>
          </a:solidFill>
          <a:ln w="12700">
            <a:solidFill>
              <a:srgbClr val="1BA6C9">
                <a:alpha val="7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9" name="Text 27"/>
          <p:cNvSpPr/>
          <p:nvPr/>
        </p:nvSpPr>
        <p:spPr>
          <a:xfrm>
            <a:off x="1143000" y="568756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150" b="1" dirty="0">
                <a:solidFill>
                  <a:srgbClr val="CFDDE8"/>
                </a:solidFill>
              </a:rPr>
              <a:t>Debe tener fallback: si MCP falla, la demo no se rompe; se informa en la traza y continúa con datos simulados.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DB7C9"/>
                </a:solidFill>
              </a:defRPr>
            </a:lvl1pPr>
          </a:lstStyle>
          <a:p>
            <a:pPr algn="l">
              <a:defRPr>
                <a:solidFill>
                  <a:srgbClr val="CFDDE8"/>
                </a:solidFill>
              </a:defRPr>
            </a:pPr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C1F2A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0C1F2A"/>
                </a:solidFill>
              </a:defRPr>
            </a:pPr>
            <a:r>
              <a:rPr sz="3000" b="1">
                <a:solidFill>
                  <a:srgbClr val="0C1F2A"/>
                </a:solidFill>
              </a:rPr>
              <a:t>Salida del informe: Google Drive o Gmail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0C1F2A"/>
                </a:solidFill>
              </a:defRPr>
            </a:pPr>
            <a:r>
              <a:rPr sz="1500">
                <a:solidFill>
                  <a:srgbClr val="0C1F2A"/>
                </a:solidFill>
              </a:rPr>
              <a:t>Recomendación del tutor: generar un informe externo, trazable y revisable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120640" cy="3474720"/>
          </a:xfrm>
          <a:prstGeom prst="roundRect">
            <a:avLst/>
          </a:prstGeom>
          <a:solidFill>
            <a:srgbClr val="F2F7FC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C1F2A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C1F2A"/>
                </a:solidFill>
              </a:defRPr>
            </a:pPr>
            <a:r>
              <a:rPr sz="2000" b="1">
                <a:solidFill>
                  <a:srgbClr val="0C1F2A"/>
                </a:solidFill>
              </a:rPr>
              <a:t>Qué aporta</a:t>
            </a:r>
          </a:p>
          <a:p>
            <a:pPr>
              <a:spcAft>
                <a:spcPts val="300"/>
              </a:spcAft>
              <a:defRPr sz="1500">
                <a:solidFill>
                  <a:srgbClr val="0C1F2A"/>
                </a:solidFill>
              </a:defRPr>
            </a:pPr>
            <a:r>
              <a:rPr>
                <a:solidFill>
                  <a:srgbClr val="0C1F2A"/>
                </a:solidFill>
              </a:rPr>
              <a:t>• El informe preliminar no queda solo en pantalla.</a:t>
            </a:r>
          </a:p>
          <a:p>
            <a:pPr>
              <a:spcAft>
                <a:spcPts val="300"/>
              </a:spcAft>
              <a:defRPr sz="1500">
                <a:solidFill>
                  <a:srgbClr val="0C1F2A"/>
                </a:solidFill>
              </a:defRPr>
            </a:pPr>
            <a:r>
              <a:rPr>
                <a:solidFill>
                  <a:srgbClr val="0C1F2A"/>
                </a:solidFill>
              </a:rPr>
              <a:t>• Se puede guardar en Drive o enviar por Gmail.</a:t>
            </a:r>
          </a:p>
          <a:p>
            <a:pPr>
              <a:spcAft>
                <a:spcPts val="300"/>
              </a:spcAft>
              <a:defRPr sz="1500">
                <a:solidFill>
                  <a:srgbClr val="0C1F2A"/>
                </a:solidFill>
              </a:defRPr>
            </a:pPr>
            <a:r>
              <a:rPr>
                <a:solidFill>
                  <a:srgbClr val="0C1F2A"/>
                </a:solidFill>
              </a:rPr>
              <a:t>• Permite trazabilidad documental del resultado.</a:t>
            </a:r>
          </a:p>
          <a:p>
            <a:pPr>
              <a:spcAft>
                <a:spcPts val="300"/>
              </a:spcAft>
              <a:defRPr sz="1500">
                <a:solidFill>
                  <a:srgbClr val="0C1F2A"/>
                </a:solidFill>
              </a:defRPr>
            </a:pPr>
            <a:r>
              <a:rPr>
                <a:solidFill>
                  <a:srgbClr val="0C1F2A"/>
                </a:solidFill>
              </a:rPr>
              <a:t>• Refuerza el valor práctico del programa.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691640"/>
            <a:ext cx="5212080" cy="3474720"/>
          </a:xfrm>
          <a:prstGeom prst="roundRect">
            <a:avLst/>
          </a:prstGeom>
          <a:solidFill>
            <a:srgbClr val="F8FCFA"/>
          </a:solidFill>
          <a:ln>
            <a:solidFill>
              <a:srgbClr val="B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C1F2A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617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C1F2A"/>
                </a:solidFill>
              </a:defRPr>
            </a:pPr>
            <a:r>
              <a:rPr sz="2000" b="1">
                <a:solidFill>
                  <a:srgbClr val="0C1F2A"/>
                </a:solidFill>
              </a:rPr>
              <a:t>Implementación controlada</a:t>
            </a:r>
          </a:p>
          <a:p>
            <a:pPr>
              <a:spcAft>
                <a:spcPts val="300"/>
              </a:spcAft>
              <a:defRPr sz="1500">
                <a:solidFill>
                  <a:srgbClr val="0C1F2A"/>
                </a:solidFill>
              </a:defRPr>
            </a:pPr>
            <a:r>
              <a:rPr>
                <a:solidFill>
                  <a:srgbClr val="0C1F2A"/>
                </a:solidFill>
              </a:rPr>
              <a:t>• Herramienta MCP o servicio desacoplado.</a:t>
            </a:r>
          </a:p>
          <a:p>
            <a:pPr>
              <a:spcAft>
                <a:spcPts val="300"/>
              </a:spcAft>
              <a:defRPr sz="1500">
                <a:solidFill>
                  <a:srgbClr val="0C1F2A"/>
                </a:solidFill>
              </a:defRPr>
            </a:pPr>
            <a:r>
              <a:rPr>
                <a:solidFill>
                  <a:srgbClr val="0C1F2A"/>
                </a:solidFill>
              </a:rPr>
              <a:t>• save_triage_report_to_drive.</a:t>
            </a:r>
          </a:p>
          <a:p>
            <a:pPr>
              <a:spcAft>
                <a:spcPts val="300"/>
              </a:spcAft>
              <a:defRPr sz="1500">
                <a:solidFill>
                  <a:srgbClr val="0C1F2A"/>
                </a:solidFill>
              </a:defRPr>
            </a:pPr>
            <a:r>
              <a:rPr>
                <a:solidFill>
                  <a:srgbClr val="0C1F2A"/>
                </a:solidFill>
              </a:rPr>
              <a:t>• send_triage_report_email como alternativa.</a:t>
            </a:r>
          </a:p>
          <a:p>
            <a:pPr>
              <a:spcAft>
                <a:spcPts val="300"/>
              </a:spcAft>
              <a:defRPr sz="1500">
                <a:solidFill>
                  <a:srgbClr val="0C1F2A"/>
                </a:solidFill>
              </a:defRPr>
            </a:pPr>
            <a:r>
              <a:rPr>
                <a:solidFill>
                  <a:srgbClr val="0C1F2A"/>
                </a:solidFill>
              </a:rPr>
              <a:t>• Fallback/mock si no hay credenciales reales.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623560"/>
            <a:ext cx="10058400" cy="685800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C1F2A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51560" y="574243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0C1F2A"/>
                </a:solidFill>
              </a:defRPr>
            </a:pPr>
            <a:r>
              <a:rPr sz="1500" b="1">
                <a:solidFill>
                  <a:srgbClr val="0C1F2A"/>
                </a:solidFill>
              </a:rPr>
              <a:t>El informe mantiene el aviso de seguridad: apoyo a decisión clínica, no diagnóstico definitivo.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0C1F2A"/>
                </a:solidFill>
              </a:defRPr>
            </a:pPr>
            <a:r>
              <a:rPr sz="800">
                <a:solidFill>
                  <a:srgbClr val="0C1F2A"/>
                </a:solidFill>
              </a:rPr>
              <a:t>Hospital Triage AI Multiagente · salida documental trazable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30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Datos, RAG y persistencia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dirty="0">
                <a:solidFill>
                  <a:srgbClr val="CFDDE8"/>
                </a:solidFill>
              </a:rPr>
              <a:t>MongoDB y Elasticsearch juntos, pero no mezclados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19456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0"/>
            </a:srgbClr>
          </a:solidFill>
          <a:ln w="16510">
            <a:solidFill>
              <a:srgbClr val="67E8B9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5" name="Text 3"/>
          <p:cNvSpPr/>
          <p:nvPr/>
        </p:nvSpPr>
        <p:spPr>
          <a:xfrm>
            <a:off x="896112" y="2029968"/>
            <a:ext cx="204825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200" b="1" dirty="0">
                <a:solidFill>
                  <a:srgbClr val="CFDDE8"/>
                </a:solidFill>
              </a:rPr>
              <a:t>MongoDB</a:t>
            </a:r>
            <a:endParaRPr lang="en-US" sz="1200" dirty="0"/>
          </a:p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200" b="1" dirty="0">
                <a:solidFill>
                  <a:srgbClr val="CFDDE8"/>
                </a:solidFill>
              </a:rPr>
              <a:t>operacional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83480" y="1920240"/>
            <a:ext cx="219456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0"/>
            </a:srgbClr>
          </a:solidFill>
          <a:ln w="16510">
            <a:solidFill>
              <a:srgbClr val="1BA6C9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7" name="Text 5"/>
          <p:cNvSpPr/>
          <p:nvPr/>
        </p:nvSpPr>
        <p:spPr>
          <a:xfrm>
            <a:off x="5056632" y="2029968"/>
            <a:ext cx="204825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200" b="1" dirty="0">
                <a:solidFill>
                  <a:srgbClr val="CFDDE8"/>
                </a:solidFill>
              </a:rPr>
              <a:t>FastAPI /</a:t>
            </a:r>
            <a:endParaRPr lang="en-US" sz="1200" dirty="0"/>
          </a:p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200" b="1" dirty="0">
                <a:solidFill>
                  <a:srgbClr val="CFDDE8"/>
                </a:solidFill>
              </a:rPr>
              <a:t>LangGraph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0" y="1920240"/>
            <a:ext cx="219456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0"/>
            </a:srgbClr>
          </a:solidFill>
          <a:ln w="16510">
            <a:solidFill>
              <a:srgbClr val="F6C85F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9" name="Text 7"/>
          <p:cNvSpPr/>
          <p:nvPr/>
        </p:nvSpPr>
        <p:spPr>
          <a:xfrm>
            <a:off x="9217152" y="2029968"/>
            <a:ext cx="204825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200" b="1" dirty="0">
                <a:solidFill>
                  <a:srgbClr val="CFDDE8"/>
                </a:solidFill>
              </a:rPr>
              <a:t>Elasticsearch</a:t>
            </a:r>
            <a:endParaRPr lang="en-US" sz="1200" dirty="0"/>
          </a:p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200" b="1" dirty="0">
                <a:solidFill>
                  <a:srgbClr val="CFDDE8"/>
                </a:solidFill>
              </a:rPr>
              <a:t>RAG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63240" y="2240280"/>
            <a:ext cx="1920240" cy="0"/>
          </a:xfrm>
          <a:prstGeom prst="line">
            <a:avLst/>
          </a:prstGeom>
          <a:noFill/>
          <a:ln w="19050">
            <a:solidFill>
              <a:srgbClr val="67E8B9"/>
            </a:solidFill>
            <a:prstDash val="solid"/>
            <a:headEnd type="none"/>
            <a:tailEnd type="triangle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1" name="Shape 9"/>
          <p:cNvSpPr/>
          <p:nvPr/>
        </p:nvSpPr>
        <p:spPr>
          <a:xfrm>
            <a:off x="7178040" y="2240280"/>
            <a:ext cx="1965960" cy="0"/>
          </a:xfrm>
          <a:prstGeom prst="line">
            <a:avLst/>
          </a:prstGeom>
          <a:noFill/>
          <a:ln w="19050">
            <a:solidFill>
              <a:srgbClr val="F6C85F"/>
            </a:solidFill>
            <a:prstDash val="solid"/>
            <a:headEnd type="none"/>
            <a:tailEnd type="triangle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2" name="Shape 10"/>
          <p:cNvSpPr/>
          <p:nvPr/>
        </p:nvSpPr>
        <p:spPr>
          <a:xfrm>
            <a:off x="822960" y="31089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FFFF">
              <a:alpha val="0"/>
            </a:srgbClr>
          </a:solidFill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3" name="Shape 11"/>
          <p:cNvSpPr/>
          <p:nvPr/>
        </p:nvSpPr>
        <p:spPr>
          <a:xfrm>
            <a:off x="822960" y="3108960"/>
            <a:ext cx="45720" cy="1554480"/>
          </a:xfrm>
          <a:prstGeom prst="rect">
            <a:avLst/>
          </a:prstGeom>
          <a:solidFill>
            <a:srgbClr val="67E8B9"/>
          </a:solidFill>
          <a:ln w="12700">
            <a:solidFill>
              <a:srgbClr val="67E8B9">
                <a:alpha val="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4" name="Text 12"/>
          <p:cNvSpPr/>
          <p:nvPr/>
        </p:nvSpPr>
        <p:spPr>
          <a:xfrm>
            <a:off x="987552" y="32735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500" b="1" dirty="0">
                <a:solidFill>
                  <a:srgbClr val="CFDDE8"/>
                </a:solidFill>
              </a:rPr>
              <a:t>MongoDB guarda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87552" y="3639312"/>
            <a:ext cx="315468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>
              <a:defRPr>
                <a:solidFill>
                  <a:srgbClr val="CFDDE8"/>
                </a:solidFill>
              </a:defRPr>
            </a:pPr>
            <a:r>
              <a:rPr>
                <a:solidFill>
                  <a:srgbClr val="CFDDE8"/>
                </a:solidFill>
              </a:rPr>
              <a:t>Casos de triage, datos de entrada, trazas, eventos visuales, informes y estado de entrega Drive/Gmail.</a:t>
            </a:r>
          </a:p>
        </p:txBody>
      </p:sp>
      <p:sp>
        <p:nvSpPr>
          <p:cNvPr id="16" name="Shape 14"/>
          <p:cNvSpPr/>
          <p:nvPr/>
        </p:nvSpPr>
        <p:spPr>
          <a:xfrm>
            <a:off x="4343400" y="31089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FFFF">
              <a:alpha val="0"/>
            </a:srgbClr>
          </a:solidFill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7" name="Shape 15"/>
          <p:cNvSpPr/>
          <p:nvPr/>
        </p:nvSpPr>
        <p:spPr>
          <a:xfrm>
            <a:off x="4343400" y="3108960"/>
            <a:ext cx="45720" cy="1554480"/>
          </a:xfrm>
          <a:prstGeom prst="rect">
            <a:avLst/>
          </a:prstGeom>
          <a:solidFill>
            <a:srgbClr val="1BA6C9"/>
          </a:solidFill>
          <a:ln w="12700">
            <a:solidFill>
              <a:srgbClr val="1BA6C9">
                <a:alpha val="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8" name="Text 16"/>
          <p:cNvSpPr/>
          <p:nvPr/>
        </p:nvSpPr>
        <p:spPr>
          <a:xfrm>
            <a:off x="4507992" y="32735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500" b="1" dirty="0">
                <a:solidFill>
                  <a:srgbClr val="CFDDE8"/>
                </a:solidFill>
              </a:rPr>
              <a:t>LangGraph produce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07992" y="3639312"/>
            <a:ext cx="315468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dirty="0">
                <a:solidFill>
                  <a:srgbClr val="CFDDE8"/>
                </a:solidFill>
              </a:rPr>
              <a:t>Eventos de agente, ejecución del flujo, decisiones parciales y salida consolidada.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63840" y="31089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FFFF">
              <a:alpha val="0"/>
            </a:srgbClr>
          </a:solidFill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1" name="Shape 19"/>
          <p:cNvSpPr/>
          <p:nvPr/>
        </p:nvSpPr>
        <p:spPr>
          <a:xfrm>
            <a:off x="7863840" y="3108960"/>
            <a:ext cx="45720" cy="1554480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2" name="Text 20"/>
          <p:cNvSpPr/>
          <p:nvPr/>
        </p:nvSpPr>
        <p:spPr>
          <a:xfrm>
            <a:off x="8028432" y="32735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500" b="1" dirty="0">
                <a:solidFill>
                  <a:srgbClr val="CFDDE8"/>
                </a:solidFill>
              </a:rPr>
              <a:t>Elasticsearch recupera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28432" y="3639312"/>
            <a:ext cx="315468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dirty="0">
                <a:solidFill>
                  <a:srgbClr val="CFDDE8"/>
                </a:solidFill>
              </a:rPr>
              <a:t>Protocolos, documentación y fragmentos relevantes para alimentar el RAG.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54406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300" b="1" dirty="0">
                <a:solidFill>
                  <a:srgbClr val="CFDDE8"/>
                </a:solidFill>
              </a:rPr>
              <a:t>Regla: MongoDB no es motor documental principal; Elasticsearch no es base principal de casos.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DB7C9"/>
                </a:solidFill>
              </a:defRPr>
            </a:lvl1pPr>
          </a:lstStyle>
          <a:p>
            <a:pPr algn="l">
              <a:defRPr>
                <a:solidFill>
                  <a:srgbClr val="CFDDE8"/>
                </a:solidFill>
              </a:defRPr>
            </a:pPr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30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implementación por fases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dirty="0">
                <a:solidFill>
                  <a:srgbClr val="CFDDE8"/>
                </a:solidFill>
              </a:rPr>
              <a:t>Trabajo incremental para reducir riesgos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1BA6C9"/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5" name="Text 3"/>
          <p:cNvSpPr/>
          <p:nvPr/>
        </p:nvSpPr>
        <p:spPr>
          <a:xfrm>
            <a:off x="987552" y="2423160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200" b="1" dirty="0">
                <a:solidFill>
                  <a:srgbClr val="CFDDE8"/>
                </a:solidFill>
              </a:rPr>
              <a:t>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2560320"/>
            <a:ext cx="1298448" cy="0"/>
          </a:xfrm>
          <a:prstGeom prst="line">
            <a:avLst/>
          </a:prstGeom>
          <a:noFill/>
          <a:ln w="19050">
            <a:solidFill>
              <a:srgbClr val="23465A"/>
            </a:solidFill>
            <a:prstDash val="solid"/>
            <a:tailEnd type="triangle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7" name="Text 5"/>
          <p:cNvSpPr/>
          <p:nvPr/>
        </p:nvSpPr>
        <p:spPr>
          <a:xfrm>
            <a:off x="594360" y="3108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950" b="1" dirty="0">
                <a:solidFill>
                  <a:srgbClr val="CFDDE8"/>
                </a:solidFill>
              </a:rPr>
              <a:t>Análisis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3355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720" dirty="0">
                <a:solidFill>
                  <a:srgbClr val="CFDDE8"/>
                </a:solidFill>
              </a:rPr>
              <a:t>Proyectos de referencia y plan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2212848" y="2240280"/>
            <a:ext cx="640080" cy="640080"/>
          </a:xfrm>
          <a:prstGeom prst="ellipse">
            <a:avLst/>
          </a:prstGeom>
          <a:solidFill>
            <a:srgbClr val="1BA6C9"/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0" name="Text 8"/>
          <p:cNvSpPr/>
          <p:nvPr/>
        </p:nvSpPr>
        <p:spPr>
          <a:xfrm>
            <a:off x="2377440" y="2423160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200" b="1" dirty="0">
                <a:solidFill>
                  <a:srgbClr val="CFDDE8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52928" y="2560320"/>
            <a:ext cx="1298448" cy="0"/>
          </a:xfrm>
          <a:prstGeom prst="line">
            <a:avLst/>
          </a:prstGeom>
          <a:noFill/>
          <a:ln w="19050">
            <a:solidFill>
              <a:srgbClr val="23465A"/>
            </a:solidFill>
            <a:prstDash val="solid"/>
            <a:tailEnd type="triangle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2" name="Text 10"/>
          <p:cNvSpPr/>
          <p:nvPr/>
        </p:nvSpPr>
        <p:spPr>
          <a:xfrm>
            <a:off x="1984248" y="3108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950" b="1" dirty="0">
                <a:solidFill>
                  <a:srgbClr val="CFDDE8"/>
                </a:solidFill>
              </a:rPr>
              <a:t>Frontend base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92808" y="3355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720" dirty="0">
                <a:solidFill>
                  <a:srgbClr val="CFDDE8"/>
                </a:solidFill>
              </a:rPr>
              <a:t>Ruta /hospital-triage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3602736" y="2240280"/>
            <a:ext cx="640080" cy="640080"/>
          </a:xfrm>
          <a:prstGeom prst="ellipse">
            <a:avLst/>
          </a:prstGeom>
          <a:solidFill>
            <a:srgbClr val="1BA6C9"/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5" name="Text 13"/>
          <p:cNvSpPr/>
          <p:nvPr/>
        </p:nvSpPr>
        <p:spPr>
          <a:xfrm>
            <a:off x="3767328" y="2423160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200" b="1" dirty="0">
                <a:solidFill>
                  <a:srgbClr val="CFDDE8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42816" y="2560320"/>
            <a:ext cx="1298448" cy="0"/>
          </a:xfrm>
          <a:prstGeom prst="line">
            <a:avLst/>
          </a:prstGeom>
          <a:noFill/>
          <a:ln w="19050">
            <a:solidFill>
              <a:srgbClr val="23465A"/>
            </a:solidFill>
            <a:prstDash val="solid"/>
            <a:tailEnd type="triangle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7" name="Text 15"/>
          <p:cNvSpPr/>
          <p:nvPr/>
        </p:nvSpPr>
        <p:spPr>
          <a:xfrm>
            <a:off x="3374136" y="3108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950" b="1" dirty="0">
                <a:solidFill>
                  <a:srgbClr val="CFDDE8"/>
                </a:solidFill>
              </a:rPr>
              <a:t>UI visual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82696" y="3355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720" dirty="0">
                <a:solidFill>
                  <a:srgbClr val="CFDDE8"/>
                </a:solidFill>
              </a:rPr>
              <a:t>Hospital + agentes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4992624" y="2240280"/>
            <a:ext cx="640080" cy="640080"/>
          </a:xfrm>
          <a:prstGeom prst="ellipse">
            <a:avLst/>
          </a:prstGeom>
          <a:solidFill>
            <a:srgbClr val="1BA6C9"/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0" name="Text 18"/>
          <p:cNvSpPr/>
          <p:nvPr/>
        </p:nvSpPr>
        <p:spPr>
          <a:xfrm>
            <a:off x="5157216" y="2423160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200" b="1" dirty="0">
                <a:solidFill>
                  <a:srgbClr val="CFDDE8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32704" y="2560320"/>
            <a:ext cx="1298448" cy="0"/>
          </a:xfrm>
          <a:prstGeom prst="line">
            <a:avLst/>
          </a:prstGeom>
          <a:noFill/>
          <a:ln w="19050">
            <a:solidFill>
              <a:srgbClr val="23465A"/>
            </a:solidFill>
            <a:prstDash val="solid"/>
            <a:tailEnd type="triangle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2" name="Text 20"/>
          <p:cNvSpPr/>
          <p:nvPr/>
        </p:nvSpPr>
        <p:spPr>
          <a:xfrm>
            <a:off x="4764024" y="3108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950" b="1" dirty="0">
                <a:solidFill>
                  <a:srgbClr val="CFDDE8"/>
                </a:solidFill>
              </a:rPr>
              <a:t>Backend mock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72584" y="3355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720" dirty="0">
                <a:solidFill>
                  <a:srgbClr val="CFDDE8"/>
                </a:solidFill>
              </a:rPr>
              <a:t>POST /triage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382512" y="2240280"/>
            <a:ext cx="640080" cy="640080"/>
          </a:xfrm>
          <a:prstGeom prst="ellipse">
            <a:avLst/>
          </a:prstGeom>
          <a:solidFill>
            <a:srgbClr val="7A7DFF"/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5" name="Text 23"/>
          <p:cNvSpPr/>
          <p:nvPr/>
        </p:nvSpPr>
        <p:spPr>
          <a:xfrm>
            <a:off x="6547104" y="2423160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200" b="1" dirty="0">
                <a:solidFill>
                  <a:srgbClr val="CFDDE8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22592" y="2560320"/>
            <a:ext cx="1298448" cy="0"/>
          </a:xfrm>
          <a:prstGeom prst="line">
            <a:avLst/>
          </a:prstGeom>
          <a:noFill/>
          <a:ln w="19050">
            <a:solidFill>
              <a:srgbClr val="23465A"/>
            </a:solidFill>
            <a:prstDash val="solid"/>
            <a:tailEnd type="triangle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7" name="Text 25"/>
          <p:cNvSpPr/>
          <p:nvPr/>
        </p:nvSpPr>
        <p:spPr>
          <a:xfrm>
            <a:off x="6153912" y="3108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950" b="1" dirty="0">
                <a:solidFill>
                  <a:srgbClr val="CFDDE8"/>
                </a:solidFill>
              </a:rPr>
              <a:t>LangGraph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62472" y="3355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720" dirty="0">
                <a:solidFill>
                  <a:srgbClr val="CFDDE8"/>
                </a:solidFill>
              </a:rPr>
              <a:t>Orquestador + subagentes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7772400" y="2240280"/>
            <a:ext cx="640080" cy="640080"/>
          </a:xfrm>
          <a:prstGeom prst="ellipse">
            <a:avLst/>
          </a:prstGeom>
          <a:solidFill>
            <a:srgbClr val="7A7DFF"/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30" name="Text 28"/>
          <p:cNvSpPr/>
          <p:nvPr/>
        </p:nvSpPr>
        <p:spPr>
          <a:xfrm>
            <a:off x="7936992" y="2423160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200" b="1" dirty="0">
                <a:solidFill>
                  <a:srgbClr val="CFDDE8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12480" y="2560320"/>
            <a:ext cx="1298448" cy="0"/>
          </a:xfrm>
          <a:prstGeom prst="line">
            <a:avLst/>
          </a:prstGeom>
          <a:noFill/>
          <a:ln w="19050">
            <a:solidFill>
              <a:srgbClr val="23465A"/>
            </a:solidFill>
            <a:prstDash val="solid"/>
            <a:tailEnd type="triangle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32" name="Text 30"/>
          <p:cNvSpPr/>
          <p:nvPr/>
        </p:nvSpPr>
        <p:spPr>
          <a:xfrm>
            <a:off x="7543800" y="3108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950" b="1" dirty="0">
                <a:solidFill>
                  <a:srgbClr val="CFDDE8"/>
                </a:solidFill>
              </a:rPr>
              <a:t>Datos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452360" y="3355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720" dirty="0">
                <a:solidFill>
                  <a:srgbClr val="CFDDE8"/>
                </a:solidFill>
              </a:rPr>
              <a:t>MongoDB + Elasticsearch/RAG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9162288" y="2240280"/>
            <a:ext cx="640080" cy="640080"/>
          </a:xfrm>
          <a:prstGeom prst="ellipse">
            <a:avLst/>
          </a:prstGeom>
          <a:solidFill>
            <a:srgbClr val="7A7DFF"/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35" name="Text 33"/>
          <p:cNvSpPr/>
          <p:nvPr/>
        </p:nvSpPr>
        <p:spPr>
          <a:xfrm>
            <a:off x="9326880" y="2423160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200" b="1" dirty="0">
                <a:solidFill>
                  <a:srgbClr val="CFDDE8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802368" y="2560320"/>
            <a:ext cx="1298448" cy="0"/>
          </a:xfrm>
          <a:prstGeom prst="line">
            <a:avLst/>
          </a:prstGeom>
          <a:noFill/>
          <a:ln w="19050">
            <a:solidFill>
              <a:srgbClr val="23465A"/>
            </a:solidFill>
            <a:prstDash val="solid"/>
            <a:tailEnd type="triangle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37" name="Text 35"/>
          <p:cNvSpPr/>
          <p:nvPr/>
        </p:nvSpPr>
        <p:spPr>
          <a:xfrm>
            <a:off x="8933688" y="3108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950" b="1" dirty="0">
                <a:solidFill>
                  <a:srgbClr val="CFDDE8"/>
                </a:solidFill>
              </a:rPr>
              <a:t>MCP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842248" y="3355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720" dirty="0">
                <a:solidFill>
                  <a:srgbClr val="CFDDE8"/>
                </a:solidFill>
              </a:rPr>
              <a:t>Tools locales simuladas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10552176" y="2240280"/>
            <a:ext cx="640080" cy="640080"/>
          </a:xfrm>
          <a:prstGeom prst="ellipse">
            <a:avLst/>
          </a:prstGeom>
          <a:solidFill>
            <a:srgbClr val="7A7DFF"/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40" name="Text 38"/>
          <p:cNvSpPr/>
          <p:nvPr/>
        </p:nvSpPr>
        <p:spPr>
          <a:xfrm>
            <a:off x="10716768" y="2423160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200" b="1" dirty="0">
                <a:solidFill>
                  <a:srgbClr val="CFDDE8"/>
                </a:solidFill>
              </a:rPr>
              <a:t>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323576" y="3108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950" b="1" dirty="0">
                <a:solidFill>
                  <a:srgbClr val="CFDDE8"/>
                </a:solidFill>
              </a:rPr>
              <a:t>Docker + tests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0232136" y="3355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720" dirty="0">
                <a:solidFill>
                  <a:srgbClr val="CFDDE8"/>
                </a:solidFill>
              </a:rPr>
              <a:t>Ejecución local estable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1097280" y="507492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0"/>
            </a:srgbClr>
          </a:solidFill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44" name="Text 42"/>
          <p:cNvSpPr/>
          <p:nvPr/>
        </p:nvSpPr>
        <p:spPr>
          <a:xfrm>
            <a:off x="1280160" y="5303520"/>
            <a:ext cx="9601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200" b="1" dirty="0">
                <a:solidFill>
                  <a:srgbClr val="CFDDE8"/>
                </a:solidFill>
              </a:rPr>
              <a:t>Estrategia: construir, validar y probar cada fase antes de avanzar. Nada de “todo a la vez” con fe y cafeína.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DB7C9"/>
                </a:solidFill>
              </a:defRPr>
            </a:lvl1pPr>
          </a:lstStyle>
          <a:p>
            <a:pPr algn="l">
              <a:defRPr>
                <a:solidFill>
                  <a:srgbClr val="CFDDE8"/>
                </a:solidFill>
              </a:defRPr>
            </a:pPr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30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Pruebas y definición de terminado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dirty="0">
                <a:solidFill>
                  <a:srgbClr val="CFDDE8"/>
                </a:solidFill>
              </a:rPr>
              <a:t>Lo mínimo para considerar el MVP listo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489204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0"/>
            </a:srgbClr>
          </a:solidFill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5" name="Shape 3"/>
          <p:cNvSpPr/>
          <p:nvPr/>
        </p:nvSpPr>
        <p:spPr>
          <a:xfrm>
            <a:off x="941832" y="1435608"/>
            <a:ext cx="228600" cy="228600"/>
          </a:xfrm>
          <a:prstGeom prst="ellipse">
            <a:avLst/>
          </a:prstGeom>
          <a:solidFill>
            <a:srgbClr val="67E8B9"/>
          </a:solidFill>
          <a:ln w="12700">
            <a:solidFill>
              <a:srgbClr val="67E8B9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6" name="Text 4"/>
          <p:cNvSpPr/>
          <p:nvPr/>
        </p:nvSpPr>
        <p:spPr>
          <a:xfrm>
            <a:off x="1280160" y="13807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b="1" dirty="0">
                <a:solidFill>
                  <a:srgbClr val="CFDDE8"/>
                </a:solidFill>
              </a:rPr>
              <a:t>Backend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280160" y="1618488"/>
            <a:ext cx="4114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30" dirty="0">
                <a:solidFill>
                  <a:srgbClr val="CFDDE8"/>
                </a:solidFill>
              </a:rPr>
              <a:t>/triage, validación de entrada y disclaimer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489204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0"/>
            </a:srgbClr>
          </a:solidFill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9" name="Shape 7"/>
          <p:cNvSpPr/>
          <p:nvPr/>
        </p:nvSpPr>
        <p:spPr>
          <a:xfrm>
            <a:off x="6428232" y="1435608"/>
            <a:ext cx="228600" cy="228600"/>
          </a:xfrm>
          <a:prstGeom prst="ellipse">
            <a:avLst/>
          </a:prstGeom>
          <a:solidFill>
            <a:srgbClr val="67E8B9"/>
          </a:solidFill>
          <a:ln w="12700">
            <a:solidFill>
              <a:srgbClr val="67E8B9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0" name="Text 8"/>
          <p:cNvSpPr/>
          <p:nvPr/>
        </p:nvSpPr>
        <p:spPr>
          <a:xfrm>
            <a:off x="6766560" y="13807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b="1" dirty="0">
                <a:solidFill>
                  <a:srgbClr val="CFDDE8"/>
                </a:solidFill>
              </a:rPr>
              <a:t>LangGraph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66560" y="1618488"/>
            <a:ext cx="4114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30" dirty="0">
                <a:solidFill>
                  <a:srgbClr val="CFDDE8"/>
                </a:solidFill>
              </a:rPr>
              <a:t>ejecución de nodos y agent_trace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777240" y="2194560"/>
            <a:ext cx="489204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0"/>
            </a:srgbClr>
          </a:solidFill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3" name="Shape 11"/>
          <p:cNvSpPr/>
          <p:nvPr/>
        </p:nvSpPr>
        <p:spPr>
          <a:xfrm>
            <a:off x="941832" y="2395728"/>
            <a:ext cx="228600" cy="228600"/>
          </a:xfrm>
          <a:prstGeom prst="ellipse">
            <a:avLst/>
          </a:prstGeom>
          <a:solidFill>
            <a:srgbClr val="67E8B9"/>
          </a:solidFill>
          <a:ln w="12700">
            <a:solidFill>
              <a:srgbClr val="67E8B9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4" name="Text 12"/>
          <p:cNvSpPr/>
          <p:nvPr/>
        </p:nvSpPr>
        <p:spPr>
          <a:xfrm>
            <a:off x="1280160" y="23408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b="1" dirty="0">
                <a:solidFill>
                  <a:srgbClr val="CFDDE8"/>
                </a:solidFill>
              </a:rPr>
              <a:t>MongoDB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80160" y="2578608"/>
            <a:ext cx="4114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30" dirty="0">
                <a:solidFill>
                  <a:srgbClr val="CFDDE8"/>
                </a:solidFill>
              </a:rPr>
              <a:t>guardar y recuperar casos e informes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6263640" y="2194560"/>
            <a:ext cx="489204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0"/>
            </a:srgbClr>
          </a:solidFill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7" name="Shape 15"/>
          <p:cNvSpPr/>
          <p:nvPr/>
        </p:nvSpPr>
        <p:spPr>
          <a:xfrm>
            <a:off x="6428232" y="2395728"/>
            <a:ext cx="228600" cy="228600"/>
          </a:xfrm>
          <a:prstGeom prst="ellipse">
            <a:avLst/>
          </a:prstGeom>
          <a:solidFill>
            <a:srgbClr val="67E8B9"/>
          </a:solidFill>
          <a:ln w="12700">
            <a:solidFill>
              <a:srgbClr val="67E8B9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8" name="Text 16"/>
          <p:cNvSpPr/>
          <p:nvPr/>
        </p:nvSpPr>
        <p:spPr>
          <a:xfrm>
            <a:off x="6766560" y="23408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b="1" dirty="0">
                <a:solidFill>
                  <a:srgbClr val="CFDDE8"/>
                </a:solidFill>
              </a:rPr>
              <a:t>Elasticsearch/RAG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66560" y="2578608"/>
            <a:ext cx="4114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30" dirty="0">
                <a:solidFill>
                  <a:srgbClr val="CFDDE8"/>
                </a:solidFill>
              </a:rPr>
              <a:t>indexar protocolos y recuperar fragmentos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777240" y="3154680"/>
            <a:ext cx="489204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0"/>
            </a:srgbClr>
          </a:solidFill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1" name="Shape 19"/>
          <p:cNvSpPr/>
          <p:nvPr/>
        </p:nvSpPr>
        <p:spPr>
          <a:xfrm>
            <a:off x="941832" y="3355848"/>
            <a:ext cx="228600" cy="228600"/>
          </a:xfrm>
          <a:prstGeom prst="ellipse">
            <a:avLst/>
          </a:prstGeom>
          <a:solidFill>
            <a:srgbClr val="67E8B9"/>
          </a:solidFill>
          <a:ln w="12700">
            <a:solidFill>
              <a:srgbClr val="67E8B9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2" name="Text 20"/>
          <p:cNvSpPr/>
          <p:nvPr/>
        </p:nvSpPr>
        <p:spPr>
          <a:xfrm>
            <a:off x="1280160" y="33009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b="1" dirty="0">
                <a:solidFill>
                  <a:srgbClr val="CFDDE8"/>
                </a:solidFill>
              </a:rPr>
              <a:t>MCP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80160" y="3538728"/>
            <a:ext cx="4114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30" dirty="0">
                <a:solidFill>
                  <a:srgbClr val="CFDDE8"/>
                </a:solidFill>
              </a:rPr>
              <a:t>tools locales y fallback controlado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6263640" y="3154680"/>
            <a:ext cx="489204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0"/>
            </a:srgbClr>
          </a:solidFill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5" name="Shape 23"/>
          <p:cNvSpPr/>
          <p:nvPr/>
        </p:nvSpPr>
        <p:spPr>
          <a:xfrm>
            <a:off x="6428232" y="3355848"/>
            <a:ext cx="228600" cy="228600"/>
          </a:xfrm>
          <a:prstGeom prst="ellipse">
            <a:avLst/>
          </a:prstGeom>
          <a:solidFill>
            <a:srgbClr val="67E8B9"/>
          </a:solidFill>
          <a:ln w="12700">
            <a:solidFill>
              <a:srgbClr val="67E8B9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6" name="Text 24"/>
          <p:cNvSpPr/>
          <p:nvPr/>
        </p:nvSpPr>
        <p:spPr>
          <a:xfrm>
            <a:off x="6766560" y="33009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b="1" dirty="0">
                <a:solidFill>
                  <a:srgbClr val="CFDDE8"/>
                </a:solidFill>
              </a:rPr>
              <a:t>Frontend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66560" y="3538728"/>
            <a:ext cx="4114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30" dirty="0">
                <a:solidFill>
                  <a:srgbClr val="CFDDE8"/>
                </a:solidFill>
              </a:rPr>
              <a:t>formulario, agentes, estados y timeline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777240" y="4114800"/>
            <a:ext cx="489204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0"/>
            </a:srgbClr>
          </a:solidFill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9" name="Shape 27"/>
          <p:cNvSpPr/>
          <p:nvPr/>
        </p:nvSpPr>
        <p:spPr>
          <a:xfrm>
            <a:off x="941832" y="4315968"/>
            <a:ext cx="228600" cy="228600"/>
          </a:xfrm>
          <a:prstGeom prst="ellipse">
            <a:avLst/>
          </a:prstGeom>
          <a:solidFill>
            <a:srgbClr val="67E8B9"/>
          </a:solidFill>
          <a:ln w="12700">
            <a:solidFill>
              <a:srgbClr val="67E8B9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30" name="Text 28"/>
          <p:cNvSpPr/>
          <p:nvPr/>
        </p:nvSpPr>
        <p:spPr>
          <a:xfrm>
            <a:off x="1280160" y="42611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b="1" dirty="0">
                <a:solidFill>
                  <a:srgbClr val="CFDDE8"/>
                </a:solidFill>
              </a:rPr>
              <a:t>Integración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280160" y="4498848"/>
            <a:ext cx="4114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30" dirty="0">
                <a:solidFill>
                  <a:srgbClr val="CFDDE8"/>
                </a:solidFill>
              </a:rPr>
              <a:t>frontend llama backend y muestra progreso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6263640" y="4114800"/>
            <a:ext cx="489204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0"/>
            </a:srgbClr>
          </a:solidFill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33" name="Shape 31"/>
          <p:cNvSpPr/>
          <p:nvPr/>
        </p:nvSpPr>
        <p:spPr>
          <a:xfrm>
            <a:off x="6428232" y="4315968"/>
            <a:ext cx="228600" cy="228600"/>
          </a:xfrm>
          <a:prstGeom prst="ellipse">
            <a:avLst/>
          </a:prstGeom>
          <a:solidFill>
            <a:srgbClr val="67E8B9"/>
          </a:solidFill>
          <a:ln w="12700">
            <a:solidFill>
              <a:srgbClr val="67E8B9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34" name="Text 32"/>
          <p:cNvSpPr/>
          <p:nvPr/>
        </p:nvSpPr>
        <p:spPr>
          <a:xfrm>
            <a:off x="6766560" y="42611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b="1" dirty="0">
                <a:solidFill>
                  <a:srgbClr val="CFDDE8"/>
                </a:solidFill>
              </a:rPr>
              <a:t>Docker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66560" y="4498848"/>
            <a:ext cx="4114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830" dirty="0">
                <a:solidFill>
                  <a:srgbClr val="CFDDE8"/>
                </a:solidFill>
              </a:rPr>
              <a:t>servicios levantan localmente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822960" y="5623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300" b="1" dirty="0">
                <a:solidFill>
                  <a:srgbClr val="CFDDE8"/>
                </a:solidFill>
              </a:rPr>
              <a:t>Terminado = aplicación local ejecutable + flujo multiagente visible + informe seguro + datos/trazas persistidos + pruebas pasadas.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DB7C9"/>
                </a:solidFill>
              </a:defRPr>
            </a:lvl1pPr>
          </a:lstStyle>
          <a:p>
            <a:pPr algn="l">
              <a:defRPr>
                <a:solidFill>
                  <a:srgbClr val="CFDDE8"/>
                </a:solidFill>
              </a:defRPr>
            </a:pPr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30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 operativo y siguiente paso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dirty="0">
                <a:solidFill>
                  <a:srgbClr val="CFDDE8"/>
                </a:solidFill>
              </a:rPr>
              <a:t>Rutas de referencia y arranque controlado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45720" cy="1280160"/>
          </a:xfrm>
          <a:prstGeom prst="rect">
            <a:avLst/>
          </a:prstGeom>
          <a:solidFill>
            <a:srgbClr val="3CE3FF"/>
          </a:solidFill>
          <a:ln w="12700">
            <a:solidFill>
              <a:srgbClr val="3CE3FF">
                <a:alpha val="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6" name="Text 4"/>
          <p:cNvSpPr/>
          <p:nvPr/>
        </p:nvSpPr>
        <p:spPr>
          <a:xfrm>
            <a:off x="896112" y="13075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500" b="1" dirty="0">
                <a:solidFill>
                  <a:srgbClr val="CFDDE8"/>
                </a:solidFill>
              </a:rPr>
              <a:t>Ruta del proyecto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1673352"/>
            <a:ext cx="49834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dirty="0">
                <a:solidFill>
                  <a:srgbClr val="CFDDE8"/>
                </a:solidFill>
              </a:rPr>
              <a:t>C:\Users\0021260\OneDrive - ViewNext\Escritorio\VisualStudio\viewnext-ai-course\hospital-triage-ai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360" y="11430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9" name="Shape 7"/>
          <p:cNvSpPr/>
          <p:nvPr/>
        </p:nvSpPr>
        <p:spPr>
          <a:xfrm>
            <a:off x="6309360" y="1143000"/>
            <a:ext cx="45720" cy="1280160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0" name="Text 8"/>
          <p:cNvSpPr/>
          <p:nvPr/>
        </p:nvSpPr>
        <p:spPr>
          <a:xfrm>
            <a:off x="6473952" y="130759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500" b="1" dirty="0">
                <a:solidFill>
                  <a:srgbClr val="CFDDE8"/>
                </a:solidFill>
              </a:rPr>
              <a:t>Referencia visual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73952" y="1673352"/>
            <a:ext cx="480060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dirty="0">
                <a:solidFill>
                  <a:srgbClr val="CFDDE8"/>
                </a:solidFill>
              </a:rPr>
              <a:t>C:\Users\0021260\OneDrive - ViewNext\Escritorio\VisualStudio\viewnext-ai-course\openclaw-studio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3" name="Shape 11"/>
          <p:cNvSpPr/>
          <p:nvPr/>
        </p:nvSpPr>
        <p:spPr>
          <a:xfrm>
            <a:off x="731520" y="2788920"/>
            <a:ext cx="45720" cy="1280160"/>
          </a:xfrm>
          <a:prstGeom prst="rect">
            <a:avLst/>
          </a:prstGeom>
          <a:solidFill>
            <a:srgbClr val="7A7DFF"/>
          </a:solidFill>
          <a:ln w="12700">
            <a:solidFill>
              <a:srgbClr val="7A7DFF">
                <a:alpha val="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4" name="Text 12"/>
          <p:cNvSpPr/>
          <p:nvPr/>
        </p:nvSpPr>
        <p:spPr>
          <a:xfrm>
            <a:off x="896112" y="295351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500" b="1" dirty="0">
                <a:solidFill>
                  <a:srgbClr val="CFDDE8"/>
                </a:solidFill>
              </a:rPr>
              <a:t>Referencia LangGraph agentes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" y="3319272"/>
            <a:ext cx="49834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dirty="0">
                <a:solidFill>
                  <a:srgbClr val="CFDDE8"/>
                </a:solidFill>
              </a:rPr>
              <a:t>...\LangGraf\agentes_reskilling\tarea_caso_de_uso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278892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23465A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7" name="Shape 15"/>
          <p:cNvSpPr/>
          <p:nvPr/>
        </p:nvSpPr>
        <p:spPr>
          <a:xfrm>
            <a:off x="6309360" y="2788920"/>
            <a:ext cx="45720" cy="1280160"/>
          </a:xfrm>
          <a:prstGeom prst="rect">
            <a:avLst/>
          </a:prstGeom>
          <a:solidFill>
            <a:srgbClr val="67E8B9"/>
          </a:solidFill>
          <a:ln w="12700">
            <a:solidFill>
              <a:srgbClr val="67E8B9">
                <a:alpha val="0"/>
              </a:srgbClr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18" name="Text 16"/>
          <p:cNvSpPr/>
          <p:nvPr/>
        </p:nvSpPr>
        <p:spPr>
          <a:xfrm>
            <a:off x="6473952" y="295351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500" b="1" dirty="0">
                <a:solidFill>
                  <a:srgbClr val="CFDDE8"/>
                </a:solidFill>
              </a:rPr>
              <a:t>Referencias curso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73952" y="3319272"/>
            <a:ext cx="480060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050" dirty="0">
                <a:solidFill>
                  <a:srgbClr val="CFDDE8"/>
                </a:solidFill>
              </a:rPr>
              <a:t>FastAPI · LangChain · LangGraf · NoSQL · RAG · Bases vectoriales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97280" y="4800600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0"/>
            </a:srgbClr>
          </a:solidFill>
          <a:ln w="12700">
            <a:solidFill>
              <a:srgbClr val="1BA6C9"/>
            </a:solidFill>
            <a:prstDash val="solid"/>
          </a:ln>
        </p:spPr>
        <p:txBody>
          <a:bodyPr/>
          <a:p>
            <a:pPr>
              <a:defRPr>
                <a:solidFill>
                  <a:srgbClr val="CFDDE8"/>
                </a:solidFill>
              </a:defRPr>
            </a:pPr>
          </a:p>
        </p:txBody>
      </p:sp>
      <p:sp>
        <p:nvSpPr>
          <p:cNvPr id="21" name="Text 19"/>
          <p:cNvSpPr/>
          <p:nvPr/>
        </p:nvSpPr>
        <p:spPr>
          <a:xfrm>
            <a:off x="1325880" y="5047488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300" b="1" dirty="0">
                <a:solidFill>
                  <a:srgbClr val="CFDDE8"/>
                </a:solidFill>
              </a:rPr>
              <a:t>Siguiente paso propuesto: aprobar alcance, crear repositorio privado, ejecutar fase 0 de análisis y validar el plan técnico antes de tocar código.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58978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solidFill>
                  <a:srgbClr val="CFDDE8"/>
                </a:solidFill>
              </a:defRPr>
            </a:pPr>
            <a:r>
              <a:rPr lang="en-US" sz="1300" dirty="0">
                <a:solidFill>
                  <a:srgbClr val="CFDDE8"/>
                </a:solidFill>
              </a:rPr>
              <a:t>Hospital Triage AI Multiagente · MVP seguro, visual y funcional para mostrar en directo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DB7C9"/>
                </a:solidFill>
              </a:defRPr>
            </a:lvl1pPr>
          </a:lstStyle>
          <a:p>
            <a:pPr algn="l">
              <a:defRPr>
                <a:solidFill>
                  <a:srgbClr val="CFDDE8"/>
                </a:solidFill>
              </a:defRPr>
            </a:pPr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ViewNext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Triage AI Multiagente</dc:title>
  <dc:subject>Propuesta técnica Hospital Triage AI Multiagente</dc:subject>
  <dc:creator>Pablo - Hospital Triage AI</dc:creator>
  <cp:lastModifiedBy>Pablo - Hospital Triage AI</cp:lastModifiedBy>
  <cp:revision>1</cp:revision>
  <dcterms:created xsi:type="dcterms:W3CDTF">2026-05-12T10:56:33Z</dcterms:created>
  <dcterms:modified xsi:type="dcterms:W3CDTF">2026-05-12T10:56:33Z</dcterms:modified>
</cp:coreProperties>
</file>